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8671a1-305c-3406-834a-31a6cba1d257}">
          <p14:sldIdLst>
            <p14:sldId id="256"/>
            <p14:sldId id="257"/>
          </p14:sldIdLst>
        </p14:section>
        <p14:section name="Problem" id="{dad8de60-8295-02ec-6228-45af2d8eb221}">
          <p14:sldIdLst>
            <p14:sldId id="258"/>
            <p14:sldId id="259"/>
          </p14:sldIdLst>
        </p14:section>
        <p14:section name="Literature" id="{c0baafd2-cbcb-486f-6178-daa35f44c573}">
          <p14:sldIdLst>
            <p14:sldId id="260"/>
            <p14:sldId id="261"/>
          </p14:sldIdLst>
        </p14:section>
        <p14:section name="Methodology" id="{e1beaae4-db95-f2c6-6756-34bacb1413e3}">
          <p14:sldIdLst>
            <p14:sldId id="262"/>
            <p14:sldId id="263"/>
          </p14:sldIdLst>
        </p14:section>
        <p14:section name="Progress" id="{9e66ab7d-1555-5935-bb6c-dfc91b763d97}">
          <p14:sldIdLst>
            <p14:sldId id="264"/>
          </p14:sldIdLst>
        </p14:section>
        <p14:section name="Results" id="{4ab95ba7-e09e-7f2e-b042-bde64ee4e92b}">
          <p14:sldIdLst>
            <p14:sldId id="265"/>
            <p14:sldId id="266"/>
            <p14:sldId id="267"/>
            <p14:sldId id="268"/>
          </p14:sldIdLst>
        </p14:section>
        <p14:section name="Plan" id="{376d2a60-5ccf-bcd7-4e5c-f85bf2b5aaa3}">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Test accuracy (%), mean of 10 seeds</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9A958C"/>
            </a:solidFill>
            <a:effectLst/>
          </c:spPr>
          <c:invertIfNegative val="0"/>
          <c:dLbls>
            <c:numFmt formatCode="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9A958C"/>
              </a:solidFill>
              <a:effectLst/>
            </c:spPr>
          </c:dPt>
          <c:dPt>
            <c:idx val="1"/>
            <c:invertIfNegative val="0"/>
            <c:bubble3D val="0"/>
            <c:spPr>
              <a:solidFill>
                <a:srgbClr val="C8963E"/>
              </a:solidFill>
              <a:effectLst/>
            </c:spPr>
          </c:dPt>
          <c:dPt>
            <c:idx val="2"/>
            <c:invertIfNegative val="0"/>
            <c:bubble3D val="0"/>
            <c:spPr>
              <a:solidFill>
                <a:srgbClr val="23336B"/>
              </a:solidFill>
              <a:effectLst/>
            </c:spPr>
          </c:dPt>
          <c:dPt>
            <c:idx val="3"/>
            <c:invertIfNegative val="0"/>
            <c:bubble3D val="0"/>
            <c:spPr>
              <a:solidFill>
                <a:srgbClr val="9A958C"/>
              </a:solidFill>
              <a:effectLst/>
            </c:spPr>
          </c:dPt>
          <c:dPt>
            <c:idx val="4"/>
            <c:invertIfNegative val="0"/>
            <c:bubble3D val="0"/>
            <c:spPr>
              <a:solidFill>
                <a:srgbClr val="9A958C"/>
              </a:solidFill>
              <a:effectLst/>
            </c:spPr>
          </c:dPt>
          <c:cat>
            <c:multiLvlStrRef>
              <c:f>Sheet1!$A$2:$A$6</c:f>
              <c:multiLvlStrCache>
                <c:ptCount val="5"/>
                <c:lvl>
                  <c:pt idx="0">
                    <c:v>Local only</c:v>
                  </c:pt>
                  <c:pt idx="1">
                    <c:v>Median</c:v>
                  </c:pt>
                  <c:pt idx="2">
                    <c:v>Sangam</c:v>
                  </c:pt>
                  <c:pt idx="3">
                    <c:v>FedAvg</c:v>
                  </c:pt>
                  <c:pt idx="4">
                    <c:v>Centralised</c:v>
                  </c:pt>
                </c:lvl>
              </c:multiLvlStrCache>
            </c:multiLvlStrRef>
          </c:cat>
          <c:val>
            <c:numRef>
              <c:f>Sheet1!$B$2:$B$6</c:f>
              <c:numCache>
                <c:formatCode>General</c:formatCode>
                <c:ptCount val="5"/>
                <c:pt idx="0">
                  <c:v>95.86</c:v>
                </c:pt>
                <c:pt idx="1">
                  <c:v>97.46</c:v>
                </c:pt>
                <c:pt idx="2">
                  <c:v>97.63</c:v>
                </c:pt>
                <c:pt idx="3">
                  <c:v>97.72</c:v>
                </c:pt>
                <c:pt idx="4">
                  <c:v>97.98</c:v>
                </c:pt>
              </c:numCache>
            </c:numRef>
          </c:val>
        </c:ser>
        <c:dLbls>
          <c:numFmt formatCode="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852"/>
                </a:solidFill>
                <a:latin typeface="+mn-lt"/>
              </a:defRPr>
            </a:pPr>
            <a:endParaRPr lang="en-US"/>
          </a:p>
        </c:txPr>
        <c:crossAx val="2094734552"/>
        <c:crosses val="autoZero"/>
        <c:auto val="1"/>
        <c:lblAlgn val="ctr"/>
        <c:noMultiLvlLbl val="1"/>
      </c:catAx>
      <c:valAx>
        <c:axId val="2094734552"/>
        <c:scaling>
          <c:orientation val="minMax"/>
          <c:max val="99"/>
          <c:min val="94"/>
        </c:scaling>
        <c:delete val="0"/>
        <c:axPos val="l"/>
        <c:majorGridlines>
          <c:spPr>
            <a:ln w="6350" cap="flat">
              <a:solidFill>
                <a:srgbClr val="E2DC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85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Test accuracy (%) with hospital 4 attacking</a:t>
            </a:r>
          </a:p>
        </c:rich>
      </c:tx>
      <c:layout/>
      <c:overlay val="0"/>
    </c:title>
    <c:autoTitleDeleted val="0"/>
    <c:plotArea>
      <c:layout/>
      <c:barChart>
        <c:barDir val="col"/>
        <c:grouping val="clustered"/>
        <c:varyColors val="0"/>
        <c:ser>
          <c:idx val="0"/>
          <c:order val="0"/>
          <c:tx>
            <c:strRef>
              <c:f>Sheet1!$B$1</c:f>
              <c:strCache>
                <c:ptCount val="1"/>
                <c:pt idx="0">
                  <c:v>FedAvg</c:v>
                </c:pt>
              </c:strCache>
            </c:strRef>
          </c:tx>
          <c:spPr>
            <a:solidFill>
              <a:srgbClr val="9A958C"/>
            </a:solidFill>
            <a:effectLst/>
          </c:spPr>
          <c:invertIfNegative val="0"/>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Label flipping</c:v>
                  </c:pt>
                  <c:pt idx="1">
                    <c:v>Sign flipping</c:v>
                  </c:pt>
                  <c:pt idx="2">
                    <c:v>Free riding</c:v>
                  </c:pt>
                </c:lvl>
              </c:multiLvlStrCache>
            </c:multiLvlStrRef>
          </c:cat>
          <c:val>
            <c:numRef>
              <c:f>Sheet1!$B$2:$B$4</c:f>
              <c:numCache>
                <c:formatCode>General</c:formatCode>
                <c:ptCount val="3"/>
                <c:pt idx="0">
                  <c:v>74.12</c:v>
                </c:pt>
                <c:pt idx="1">
                  <c:v>45.96</c:v>
                </c:pt>
                <c:pt idx="2">
                  <c:v>96.75</c:v>
                </c:pt>
              </c:numCache>
            </c:numRef>
          </c:val>
        </c:ser>
        <c:ser>
          <c:idx val="1"/>
          <c:order val="1"/>
          <c:tx>
            <c:strRef>
              <c:f>Sheet1!$C$1</c:f>
              <c:strCache>
                <c:ptCount val="1"/>
                <c:pt idx="0">
                  <c:v>Coord. median</c:v>
                </c:pt>
              </c:strCache>
            </c:strRef>
          </c:tx>
          <c:spPr>
            <a:solidFill>
              <a:srgbClr val="C8963E"/>
            </a:solidFill>
            <a:effectLst/>
          </c:spPr>
          <c:invertIfNegative val="0"/>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Label flipping</c:v>
                  </c:pt>
                  <c:pt idx="1">
                    <c:v>Sign flipping</c:v>
                  </c:pt>
                  <c:pt idx="2">
                    <c:v>Free riding</c:v>
                  </c:pt>
                </c:lvl>
              </c:multiLvlStrCache>
            </c:multiLvlStrRef>
          </c:cat>
          <c:val>
            <c:numRef>
              <c:f>Sheet1!$C$2:$C$4</c:f>
              <c:numCache>
                <c:formatCode>General</c:formatCode>
                <c:ptCount val="3"/>
                <c:pt idx="0">
                  <c:v>97.11</c:v>
                </c:pt>
                <c:pt idx="1">
                  <c:v>96.75</c:v>
                </c:pt>
                <c:pt idx="2">
                  <c:v>97.19</c:v>
                </c:pt>
              </c:numCache>
            </c:numRef>
          </c:val>
        </c:ser>
        <c:ser>
          <c:idx val="2"/>
          <c:order val="2"/>
          <c:tx>
            <c:strRef>
              <c:f>Sheet1!$D$1</c:f>
              <c:strCache>
                <c:ptCount val="1"/>
                <c:pt idx="0">
                  <c:v>Sangam</c:v>
                </c:pt>
              </c:strCache>
            </c:strRef>
          </c:tx>
          <c:spPr>
            <a:solidFill>
              <a:srgbClr val="23336B"/>
            </a:solidFill>
            <a:effectLst/>
          </c:spPr>
          <c:invertIfNegative val="0"/>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Label flipping</c:v>
                  </c:pt>
                  <c:pt idx="1">
                    <c:v>Sign flipping</c:v>
                  </c:pt>
                  <c:pt idx="2">
                    <c:v>Free riding</c:v>
                  </c:pt>
                </c:lvl>
              </c:multiLvlStrCache>
            </c:multiLvlStrRef>
          </c:cat>
          <c:val>
            <c:numRef>
              <c:f>Sheet1!$D$2:$D$4</c:f>
              <c:numCache>
                <c:formatCode>General</c:formatCode>
                <c:ptCount val="3"/>
                <c:pt idx="0">
                  <c:v>96.93</c:v>
                </c:pt>
                <c:pt idx="1">
                  <c:v>97.02</c:v>
                </c:pt>
                <c:pt idx="2">
                  <c:v>96.75</c:v>
                </c:pt>
              </c:numCache>
            </c:numRef>
          </c:val>
        </c:ser>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85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DC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85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Accuracy (%) vs. privacy budget per hospital</a:t>
            </a:r>
          </a:p>
        </c:rich>
      </c:tx>
      <c:layout/>
      <c:overlay val="0"/>
    </c:title>
    <c:autoTitleDeleted val="0"/>
    <c:plotArea>
      <c:layout/>
      <c:lineChart>
        <c:varyColors val="0"/>
        <c:ser>
          <c:idx val="0"/>
          <c:order val="0"/>
          <c:tx>
            <c:strRef>
              <c:f>Sheet1!$B$1</c:f>
              <c:strCache>
                <c:ptCount val="1"/>
                <c:pt idx="0">
                  <c:v>Sangam + DP-SGD</c:v>
                </c:pt>
              </c:strCache>
            </c:strRef>
          </c:tx>
          <c:spPr>
            <a:solidFill>
              <a:srgbClr val="8A7CC2"/>
            </a:solidFill>
            <a:ln w="31750" cap="flat">
              <a:solidFill>
                <a:srgbClr val="8A7CC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8A7CC2"/>
              </a:solidFill>
              <a:ln w="9525" cap="flat">
                <a:solidFill>
                  <a:srgbClr val="8A7CC2"/>
                </a:solidFill>
                <a:prstDash val="solid"/>
                <a:round/>
              </a:ln>
              <a:effectLst/>
            </c:spPr>
          </c:marker>
          <c:cat>
            <c:multiLvlStrRef>
              <c:f>Sheet1!$A$2:$A$5</c:f>
              <c:multiLvlStrCache>
                <c:ptCount val="4"/>
                <c:lvl>
                  <c:pt idx="0">
                    <c:v>ε = 1</c:v>
                  </c:pt>
                  <c:pt idx="1">
                    <c:v>ε = 2</c:v>
                  </c:pt>
                  <c:pt idx="2">
                    <c:v>ε = 4</c:v>
                  </c:pt>
                  <c:pt idx="3">
                    <c:v>ε = 8</c:v>
                  </c:pt>
                </c:lvl>
              </c:multiLvlStrCache>
            </c:multiLvlStrRef>
          </c:cat>
          <c:val>
            <c:numRef>
              <c:f>Sheet1!$B$2:$B$5</c:f>
              <c:numCache>
                <c:formatCode>General</c:formatCode>
                <c:ptCount val="4"/>
                <c:pt idx="0">
                  <c:v>93.77</c:v>
                </c:pt>
                <c:pt idx="1">
                  <c:v>95.44</c:v>
                </c:pt>
                <c:pt idx="2">
                  <c:v>96.67</c:v>
                </c:pt>
                <c:pt idx="3">
                  <c:v>97.63</c:v>
                </c:pt>
              </c:numCache>
            </c:numRef>
          </c:val>
          <c:smooth val="0"/>
        </c:ser>
        <c:ser>
          <c:idx val="1"/>
          <c:order val="1"/>
          <c:tx>
            <c:strRef>
              <c:f>Sheet1!$C$1</c:f>
              <c:strCache>
                <c:ptCount val="1"/>
                <c:pt idx="0">
                  <c:v>Local only, no privacy</c:v>
                </c:pt>
              </c:strCache>
            </c:strRef>
          </c:tx>
          <c:spPr>
            <a:solidFill>
              <a:srgbClr val="C8963E"/>
            </a:solidFill>
            <a:ln w="31750" cap="flat">
              <a:solidFill>
                <a:srgbClr val="C896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8963E"/>
              </a:solidFill>
              <a:ln w="9525" cap="flat">
                <a:solidFill>
                  <a:srgbClr val="C8963E"/>
                </a:solidFill>
                <a:prstDash val="solid"/>
                <a:round/>
              </a:ln>
              <a:effectLst/>
            </c:spPr>
          </c:marker>
          <c:cat>
            <c:multiLvlStrRef>
              <c:f>Sheet1!$A$2:$A$5</c:f>
              <c:multiLvlStrCache>
                <c:ptCount val="4"/>
                <c:lvl>
                  <c:pt idx="0">
                    <c:v>ε = 1</c:v>
                  </c:pt>
                  <c:pt idx="1">
                    <c:v>ε = 2</c:v>
                  </c:pt>
                  <c:pt idx="2">
                    <c:v>ε = 4</c:v>
                  </c:pt>
                  <c:pt idx="3">
                    <c:v>ε = 8</c:v>
                  </c:pt>
                </c:lvl>
              </c:multiLvlStrCache>
            </c:multiLvlStrRef>
          </c:cat>
          <c:val>
            <c:numRef>
              <c:f>Sheet1!$C$2:$C$5</c:f>
              <c:numCache>
                <c:formatCode>General</c:formatCode>
                <c:ptCount val="4"/>
                <c:pt idx="0">
                  <c:v>95.86</c:v>
                </c:pt>
                <c:pt idx="1">
                  <c:v>95.86</c:v>
                </c:pt>
                <c:pt idx="2">
                  <c:v>95.86</c:v>
                </c:pt>
                <c:pt idx="3">
                  <c:v>95.86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852"/>
                </a:solidFill>
                <a:latin typeface="+mn-lt"/>
              </a:defRPr>
            </a:pPr>
            <a:endParaRPr lang="en-US"/>
          </a:p>
        </c:txPr>
        <c:crossAx val="2094734552"/>
        <c:crosses val="autoZero"/>
        <c:auto val="1"/>
        <c:lblAlgn val="ctr"/>
        <c:noMultiLvlLbl val="1"/>
      </c:catAx>
      <c:valAx>
        <c:axId val="2094734552"/>
        <c:scaling>
          <c:orientation val="minMax"/>
          <c:max val="99"/>
          <c:min val="90"/>
        </c:scaling>
        <c:delete val="0"/>
        <c:axPos val="l"/>
        <c:majorGridlines>
          <c:spPr>
            <a:ln w="6350" cap="flat">
              <a:solidFill>
                <a:srgbClr val="E2DC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85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Sangam, which means confluence. Many hospitals contribute to one diagnostic model, and the patient data itself never moves. Today we show what we built since the first defence and our first real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who owned which part: contracts, FL and privacy, and evaluation plus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The key one is the central server: it is a single point of failure, it sees every individual update, and nobody can verify it aggregated honestly. Gradients can leak patient data, and one bad hospital can poison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unchanged from the synopsis. All six now have working code or experiments behind them, which the next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of work solves part of the problem. Secure aggregation and DP protect data but keep the server. Blockchain FL systems decentralise but mostly skip update privacy or robustness. Full references are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we target. The contribution is the integration and its evaluation, not inventing each piece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Hospitals train with differential privacy, mask their updates so the aggregator only learns the sum, and commit a hash of each update on chain. A validator committee scores updates and the reputation contract turns scores into aggregation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three and four make the process auditable: every update and every score is on chain before aggregation. The asymmetric reputation rule is what pushes an attacker's weight close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except testnet deployment and the dashboard is implemented. Contracts are tested on a local Hardhat chain. Privacy and reputation are implemented in our Python simulation; next we port them onto Flower and Opacus.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Breast Cancer Wisconsin dataset, 569 cases, split unevenly across four simulated hospitals. Note the y-axis starts at 94 percent. Sangam gives up almost nothing compared with a trusted server, and lowers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is equally robust on accuracy, but it is anonymous: it never says who attacked. Sangam pushes the attacker's weight from 28.8 to under 2 percent, and every score is on chain, so exclusion can be audited. Free riders are only partly caught: 9.8 percent weight, a third of their fair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epsilon 2 upward, a hospital that joins Sangam with privacy is more accurate than training alone with no privacy. Gas is independent of model size because only hashes go 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list these openly because the panel will ask. Each one maps to a future-work item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semester follows the synopsis timeline: integration first, then scale and verifiability, then the dashboard and paper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Sangam  ·  Minor Project Second Defence  ·  CSE-AIML, MAIT</a:t>
            </a:r>
            <a:endParaRPr lang="en-US" sz="9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394960" y="685800"/>
            <a:ext cx="3566160" cy="3566160"/>
          </a:xfrm>
          <a:prstGeom prst="rect">
            <a:avLst/>
          </a:prstGeom>
        </p:spPr>
      </p:pic>
      <p:sp>
        <p:nvSpPr>
          <p:cNvPr id="3" name="pill"/>
          <p:cNvSpPr/>
          <p:nvPr/>
        </p:nvSpPr>
        <p:spPr>
          <a:xfrm>
            <a:off x="548640" y="502920"/>
            <a:ext cx="3291840" cy="310896"/>
          </a:xfrm>
          <a:prstGeom prst="roundRect">
            <a:avLst>
              <a:gd name="adj" fmla="val 50000"/>
            </a:avLst>
          </a:prstGeom>
          <a:ln w="12700">
            <a:solidFill>
              <a:srgbClr val="C8963E"/>
            </a:solidFill>
            <a:prstDash val="solid"/>
          </a:ln>
        </p:spPr>
      </p:sp>
      <p:sp>
        <p:nvSpPr>
          <p:cNvPr id="4" name="Text 1"/>
          <p:cNvSpPr txBox="1"/>
          <p:nvPr/>
        </p:nvSpPr>
        <p:spPr>
          <a:xfrm>
            <a:off x="548640" y="502920"/>
            <a:ext cx="3291840" cy="310896"/>
          </a:xfrm>
          <a:prstGeom prst="rect">
            <a:avLst/>
          </a:prstGeom>
          <a:noFill/>
          <a:ln/>
        </p:spPr>
        <p:txBody>
          <a:bodyPr wrap="square" lIns="0" tIns="0" rIns="0" bIns="0" rtlCol="0" anchor="ctr"/>
          <a:lstStyle/>
          <a:p>
            <a:pPr algn="ctr" indent="0" marL="0">
              <a:buNone/>
            </a:pPr>
            <a:r>
              <a:rPr lang="en-US" sz="1000" b="1" dirty="0">
                <a:solidFill>
                  <a:srgbClr val="C8963E"/>
                </a:solidFill>
              </a:rPr>
              <a:t>MINOR PROJECT  ·  SECOND DEFENCE  ·  23 OCT 2026</a:t>
            </a:r>
            <a:endParaRPr lang="en-US" sz="1000" dirty="0"/>
          </a:p>
        </p:txBody>
      </p:sp>
      <p:sp>
        <p:nvSpPr>
          <p:cNvPr id="5" name="Text 2"/>
          <p:cNvSpPr txBox="1"/>
          <p:nvPr/>
        </p:nvSpPr>
        <p:spPr>
          <a:xfrm>
            <a:off x="548640" y="1051560"/>
            <a:ext cx="4937760" cy="91440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Sangam</a:t>
            </a:r>
            <a:endParaRPr lang="en-US" sz="6000" dirty="0"/>
          </a:p>
        </p:txBody>
      </p:sp>
      <p:sp>
        <p:nvSpPr>
          <p:cNvPr id="6" name="Text 3"/>
          <p:cNvSpPr txBox="1"/>
          <p:nvPr/>
        </p:nvSpPr>
        <p:spPr>
          <a:xfrm>
            <a:off x="548640" y="2011680"/>
            <a:ext cx="4846320" cy="822960"/>
          </a:xfrm>
          <a:prstGeom prst="rect">
            <a:avLst/>
          </a:prstGeom>
          <a:noFill/>
          <a:ln/>
        </p:spPr>
        <p:txBody>
          <a:bodyPr wrap="square" lIns="0" tIns="0" rIns="0" bIns="0" rtlCol="0" anchor="t"/>
          <a:lstStyle/>
          <a:p>
            <a:pPr indent="0" marL="0">
              <a:buNone/>
            </a:pPr>
            <a:r>
              <a:rPr lang="en-US" sz="1800" dirty="0">
                <a:solidFill>
                  <a:schemeClr val="bg2"/>
                </a:solidFill>
              </a:rPr>
              <a:t>A Blockchain-Coordinated Framework for Privacy-Preserving Federated Learning in Healthcare</a:t>
            </a:r>
            <a:endParaRPr lang="en-US" sz="1800" dirty="0"/>
          </a:p>
        </p:txBody>
      </p:sp>
      <p:sp>
        <p:nvSpPr>
          <p:cNvPr id="7" name="Text 4"/>
          <p:cNvSpPr txBox="1"/>
          <p:nvPr/>
        </p:nvSpPr>
        <p:spPr>
          <a:xfrm>
            <a:off x="548640" y="3337560"/>
            <a:ext cx="4937760" cy="914400"/>
          </a:xfrm>
          <a:prstGeom prst="rect">
            <a:avLst/>
          </a:prstGeom>
          <a:noFill/>
          <a:ln/>
        </p:spPr>
        <p:txBody>
          <a:bodyPr wrap="square" lIns="0" tIns="0" rIns="0" bIns="0" rtlCol="0" anchor="t"/>
          <a:lstStyle/>
          <a:p>
            <a:pPr indent="0" marL="0">
              <a:spcAft>
                <a:spcPts val="400"/>
              </a:spcAft>
              <a:buNone/>
            </a:pPr>
            <a:r>
              <a:rPr lang="en-US" sz="1200" b="1" dirty="0">
                <a:solidFill>
                  <a:schemeClr val="bg2"/>
                </a:solidFill>
              </a:rPr>
              <a:t>Divyanshh Kalra  ·  Shrey Khandal  ·  Tanish Garg</a:t>
            </a:r>
            <a:endParaRPr lang="en-US" sz="1200" dirty="0"/>
          </a:p>
          <a:p>
            <a:pPr indent="0" marL="0">
              <a:spcAft>
                <a:spcPts val="400"/>
              </a:spcAft>
              <a:buNone/>
            </a:pPr>
            <a:r>
              <a:rPr lang="en-US" sz="1200" dirty="0">
                <a:solidFill>
                  <a:schemeClr val="bg2"/>
                </a:solidFill>
              </a:rPr>
              <a:t>Guide: Dr. Mohit Mittal</a:t>
            </a:r>
            <a:endParaRPr lang="en-US" sz="1200" dirty="0"/>
          </a:p>
          <a:p>
            <a:pPr indent="0" marL="0">
              <a:spcAft>
                <a:spcPts val="400"/>
              </a:spcAft>
              <a:buNone/>
            </a:pPr>
            <a:r>
              <a:rPr lang="en-US" sz="1200" dirty="0">
                <a:solidFill>
                  <a:schemeClr val="bg2"/>
                </a:solidFill>
              </a:rPr>
              <a:t>Department of CSE-AIML (Section CSE-AIML-1)  ·  Maharaja Agrasen Institute of Technology, Rohini</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Project team</a:t>
            </a:r>
            <a:endParaRPr lang="en-US" sz="2800" dirty="0"/>
          </a:p>
        </p:txBody>
      </p:sp>
      <p:sp>
        <p:nvSpPr>
          <p:cNvPr id="3" name="team-card-shadow"/>
          <p:cNvSpPr/>
          <p:nvPr/>
        </p:nvSpPr>
        <p:spPr>
          <a:xfrm>
            <a:off x="512064" y="1380744"/>
            <a:ext cx="1828800" cy="2377440"/>
          </a:xfrm>
          <a:prstGeom prst="rect">
            <a:avLst/>
          </a:prstGeom>
          <a:solidFill>
            <a:schemeClr val="tx1"/>
          </a:solidFill>
          <a:ln w="12700">
            <a:solidFill>
              <a:schemeClr val="tx1"/>
            </a:solidFill>
            <a:prstDash val="solid"/>
          </a:ln>
        </p:spPr>
      </p:sp>
      <p:sp>
        <p:nvSpPr>
          <p:cNvPr id="4" name="team-card"/>
          <p:cNvSpPr/>
          <p:nvPr/>
        </p:nvSpPr>
        <p:spPr>
          <a:xfrm>
            <a:off x="457200" y="1325880"/>
            <a:ext cx="1828800" cy="2377440"/>
          </a:xfrm>
          <a:prstGeom prst="rect">
            <a:avLst/>
          </a:prstGeom>
          <a:solidFill>
            <a:schemeClr val="bg1"/>
          </a:solidFill>
          <a:ln w="15875">
            <a:solidFill>
              <a:schemeClr val="tx1"/>
            </a:solidFill>
            <a:prstDash val="solid"/>
          </a:ln>
        </p:spPr>
      </p:sp>
      <p:sp>
        <p:nvSpPr>
          <p:cNvPr id="5" name="icon-circle"/>
          <p:cNvSpPr/>
          <p:nvPr/>
        </p:nvSpPr>
        <p:spPr>
          <a:xfrm>
            <a:off x="640080" y="1554480"/>
            <a:ext cx="548640" cy="54864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777240" y="1691640"/>
            <a:ext cx="274320" cy="274320"/>
          </a:xfrm>
          <a:prstGeom prst="rect">
            <a:avLst/>
          </a:prstGeom>
        </p:spPr>
      </p:pic>
      <p:sp>
        <p:nvSpPr>
          <p:cNvPr id="7" name="Text 4"/>
          <p:cNvSpPr txBox="1"/>
          <p:nvPr/>
        </p:nvSpPr>
        <p:spPr>
          <a:xfrm>
            <a:off x="640080" y="2240280"/>
            <a:ext cx="146304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Divyanshh Kalra</a:t>
            </a:r>
            <a:endParaRPr lang="en-US" sz="1500" dirty="0"/>
          </a:p>
        </p:txBody>
      </p:sp>
      <p:sp>
        <p:nvSpPr>
          <p:cNvPr id="8" name="Text 5"/>
          <p:cNvSpPr txBox="1"/>
          <p:nvPr/>
        </p:nvSpPr>
        <p:spPr>
          <a:xfrm>
            <a:off x="640080" y="2606040"/>
            <a:ext cx="1463040" cy="274320"/>
          </a:xfrm>
          <a:prstGeom prst="rect">
            <a:avLst/>
          </a:prstGeom>
          <a:noFill/>
          <a:ln/>
        </p:spPr>
        <p:txBody>
          <a:bodyPr wrap="square" lIns="0" tIns="0" rIns="0" bIns="0" rtlCol="0" anchor="t"/>
          <a:lstStyle/>
          <a:p>
            <a:pPr indent="0" marL="0">
              <a:buNone/>
            </a:pPr>
            <a:r>
              <a:rPr lang="en-US" sz="1100" dirty="0">
                <a:solidFill>
                  <a:schemeClr val="accent6"/>
                </a:solidFill>
              </a:rPr>
              <a:t>Team member</a:t>
            </a:r>
            <a:endParaRPr lang="en-US" sz="1100" dirty="0"/>
          </a:p>
        </p:txBody>
      </p:sp>
      <p:sp>
        <p:nvSpPr>
          <p:cNvPr id="9" name="Text 6"/>
          <p:cNvSpPr txBox="1"/>
          <p:nvPr/>
        </p:nvSpPr>
        <p:spPr>
          <a:xfrm>
            <a:off x="640080" y="3017520"/>
            <a:ext cx="1463040" cy="54864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Roll No. 00414815623</a:t>
            </a:r>
            <a:endParaRPr lang="en-US" sz="1100" dirty="0"/>
          </a:p>
          <a:p>
            <a:pPr indent="0" marL="0">
              <a:spcAft>
                <a:spcPts val="600"/>
              </a:spcAft>
              <a:buNone/>
            </a:pPr>
            <a:r>
              <a:rPr lang="en-US" sz="1100" dirty="0">
                <a:solidFill>
                  <a:schemeClr val="tx1"/>
                </a:solidFill>
              </a:rPr>
              <a:t>Section: CSE-AIML-1</a:t>
            </a:r>
            <a:endParaRPr lang="en-US" sz="1100" dirty="0"/>
          </a:p>
        </p:txBody>
      </p:sp>
      <p:sp>
        <p:nvSpPr>
          <p:cNvPr id="10" name="team-card-shadow"/>
          <p:cNvSpPr/>
          <p:nvPr/>
        </p:nvSpPr>
        <p:spPr>
          <a:xfrm>
            <a:off x="2587752" y="1380744"/>
            <a:ext cx="1828800" cy="2377440"/>
          </a:xfrm>
          <a:prstGeom prst="rect">
            <a:avLst/>
          </a:prstGeom>
          <a:solidFill>
            <a:schemeClr val="tx1"/>
          </a:solidFill>
          <a:ln w="12700">
            <a:solidFill>
              <a:schemeClr val="tx1"/>
            </a:solidFill>
            <a:prstDash val="solid"/>
          </a:ln>
        </p:spPr>
      </p:sp>
      <p:sp>
        <p:nvSpPr>
          <p:cNvPr id="11" name="team-card"/>
          <p:cNvSpPr/>
          <p:nvPr/>
        </p:nvSpPr>
        <p:spPr>
          <a:xfrm>
            <a:off x="2532888" y="1325880"/>
            <a:ext cx="1828800" cy="2377440"/>
          </a:xfrm>
          <a:prstGeom prst="rect">
            <a:avLst/>
          </a:prstGeom>
          <a:solidFill>
            <a:schemeClr val="bg1"/>
          </a:solidFill>
          <a:ln w="15875">
            <a:solidFill>
              <a:schemeClr val="tx1"/>
            </a:solidFill>
            <a:prstDash val="solid"/>
          </a:ln>
        </p:spPr>
      </p:sp>
      <p:sp>
        <p:nvSpPr>
          <p:cNvPr id="12" name="icon-circle"/>
          <p:cNvSpPr/>
          <p:nvPr/>
        </p:nvSpPr>
        <p:spPr>
          <a:xfrm>
            <a:off x="2715768" y="1554480"/>
            <a:ext cx="548640" cy="548640"/>
          </a:xfrm>
          <a:prstGeom prst="ellipse">
            <a:avLst/>
          </a:prstGeom>
          <a:solidFill>
            <a:schemeClr val="tx2"/>
          </a:solidFill>
          <a:ln w="12700">
            <a:solidFill>
              <a:schemeClr val="tx2"/>
            </a:solidFill>
            <a:prstDash val="solid"/>
          </a:ln>
        </p:spPr>
      </p:sp>
      <p:pic>
        <p:nvPicPr>
          <p:cNvPr id="13" name="Image 1" descr="preencoded.png">    </p:cNvPr>
          <p:cNvPicPr>
            <a:picLocks noChangeAspect="1"/>
          </p:cNvPicPr>
          <p:nvPr/>
        </p:nvPicPr>
        <p:blipFill>
          <a:blip r:embed="rId2"/>
          <a:stretch>
            <a:fillRect/>
          </a:stretch>
        </p:blipFill>
        <p:spPr>
          <a:xfrm>
            <a:off x="2852928" y="1691640"/>
            <a:ext cx="274320" cy="274320"/>
          </a:xfrm>
          <a:prstGeom prst="rect">
            <a:avLst/>
          </a:prstGeom>
        </p:spPr>
      </p:pic>
      <p:sp>
        <p:nvSpPr>
          <p:cNvPr id="14" name="Text 10"/>
          <p:cNvSpPr txBox="1"/>
          <p:nvPr/>
        </p:nvSpPr>
        <p:spPr>
          <a:xfrm>
            <a:off x="2715768" y="2240280"/>
            <a:ext cx="146304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Shrey Khandal</a:t>
            </a:r>
            <a:endParaRPr lang="en-US" sz="1500" dirty="0"/>
          </a:p>
        </p:txBody>
      </p:sp>
      <p:sp>
        <p:nvSpPr>
          <p:cNvPr id="15" name="Text 11"/>
          <p:cNvSpPr txBox="1"/>
          <p:nvPr/>
        </p:nvSpPr>
        <p:spPr>
          <a:xfrm>
            <a:off x="2715768" y="2606040"/>
            <a:ext cx="1463040" cy="274320"/>
          </a:xfrm>
          <a:prstGeom prst="rect">
            <a:avLst/>
          </a:prstGeom>
          <a:noFill/>
          <a:ln/>
        </p:spPr>
        <p:txBody>
          <a:bodyPr wrap="square" lIns="0" tIns="0" rIns="0" bIns="0" rtlCol="0" anchor="t"/>
          <a:lstStyle/>
          <a:p>
            <a:pPr indent="0" marL="0">
              <a:buNone/>
            </a:pPr>
            <a:r>
              <a:rPr lang="en-US" sz="1100" dirty="0">
                <a:solidFill>
                  <a:schemeClr val="accent6"/>
                </a:solidFill>
              </a:rPr>
              <a:t>Team member</a:t>
            </a:r>
            <a:endParaRPr lang="en-US" sz="1100" dirty="0"/>
          </a:p>
        </p:txBody>
      </p:sp>
      <p:sp>
        <p:nvSpPr>
          <p:cNvPr id="16" name="Text 12"/>
          <p:cNvSpPr txBox="1"/>
          <p:nvPr/>
        </p:nvSpPr>
        <p:spPr>
          <a:xfrm>
            <a:off x="2715768" y="3017520"/>
            <a:ext cx="1463040" cy="54864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Roll No. 00314815623</a:t>
            </a:r>
            <a:endParaRPr lang="en-US" sz="1100" dirty="0"/>
          </a:p>
          <a:p>
            <a:pPr indent="0" marL="0">
              <a:spcAft>
                <a:spcPts val="600"/>
              </a:spcAft>
              <a:buNone/>
            </a:pPr>
            <a:r>
              <a:rPr lang="en-US" sz="1100" dirty="0">
                <a:solidFill>
                  <a:schemeClr val="tx1"/>
                </a:solidFill>
              </a:rPr>
              <a:t>Section: CSE-AIML-1</a:t>
            </a:r>
            <a:endParaRPr lang="en-US" sz="1100" dirty="0"/>
          </a:p>
        </p:txBody>
      </p:sp>
      <p:sp>
        <p:nvSpPr>
          <p:cNvPr id="17" name="team-card-shadow"/>
          <p:cNvSpPr/>
          <p:nvPr/>
        </p:nvSpPr>
        <p:spPr>
          <a:xfrm>
            <a:off x="4663440" y="1380744"/>
            <a:ext cx="1828800" cy="2377440"/>
          </a:xfrm>
          <a:prstGeom prst="rect">
            <a:avLst/>
          </a:prstGeom>
          <a:solidFill>
            <a:schemeClr val="tx1"/>
          </a:solidFill>
          <a:ln w="12700">
            <a:solidFill>
              <a:schemeClr val="tx1"/>
            </a:solidFill>
            <a:prstDash val="solid"/>
          </a:ln>
        </p:spPr>
      </p:sp>
      <p:sp>
        <p:nvSpPr>
          <p:cNvPr id="18" name="team-card"/>
          <p:cNvSpPr/>
          <p:nvPr/>
        </p:nvSpPr>
        <p:spPr>
          <a:xfrm>
            <a:off x="4608576" y="1325880"/>
            <a:ext cx="1828800" cy="2377440"/>
          </a:xfrm>
          <a:prstGeom prst="rect">
            <a:avLst/>
          </a:prstGeom>
          <a:solidFill>
            <a:schemeClr val="bg1"/>
          </a:solidFill>
          <a:ln w="15875">
            <a:solidFill>
              <a:schemeClr val="tx1"/>
            </a:solidFill>
            <a:prstDash val="solid"/>
          </a:ln>
        </p:spPr>
      </p:sp>
      <p:sp>
        <p:nvSpPr>
          <p:cNvPr id="19" name="icon-circle"/>
          <p:cNvSpPr/>
          <p:nvPr/>
        </p:nvSpPr>
        <p:spPr>
          <a:xfrm>
            <a:off x="4791456" y="1554480"/>
            <a:ext cx="548640" cy="548640"/>
          </a:xfrm>
          <a:prstGeom prst="ellipse">
            <a:avLst/>
          </a:prstGeom>
          <a:solidFill>
            <a:schemeClr val="tx2"/>
          </a:solidFill>
          <a:ln w="12700">
            <a:solidFill>
              <a:schemeClr val="tx2"/>
            </a:solidFill>
            <a:prstDash val="solid"/>
          </a:ln>
        </p:spPr>
      </p:sp>
      <p:pic>
        <p:nvPicPr>
          <p:cNvPr id="20" name="Image 2" descr="preencoded.png">    </p:cNvPr>
          <p:cNvPicPr>
            <a:picLocks noChangeAspect="1"/>
          </p:cNvPicPr>
          <p:nvPr/>
        </p:nvPicPr>
        <p:blipFill>
          <a:blip r:embed="rId3"/>
          <a:stretch>
            <a:fillRect/>
          </a:stretch>
        </p:blipFill>
        <p:spPr>
          <a:xfrm>
            <a:off x="4928616" y="1691640"/>
            <a:ext cx="274320" cy="274320"/>
          </a:xfrm>
          <a:prstGeom prst="rect">
            <a:avLst/>
          </a:prstGeom>
        </p:spPr>
      </p:pic>
      <p:sp>
        <p:nvSpPr>
          <p:cNvPr id="21" name="Text 16"/>
          <p:cNvSpPr txBox="1"/>
          <p:nvPr/>
        </p:nvSpPr>
        <p:spPr>
          <a:xfrm>
            <a:off x="4791456" y="2240280"/>
            <a:ext cx="146304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Tanish Garg</a:t>
            </a:r>
            <a:endParaRPr lang="en-US" sz="1500" dirty="0"/>
          </a:p>
        </p:txBody>
      </p:sp>
      <p:sp>
        <p:nvSpPr>
          <p:cNvPr id="22" name="Text 17"/>
          <p:cNvSpPr txBox="1"/>
          <p:nvPr/>
        </p:nvSpPr>
        <p:spPr>
          <a:xfrm>
            <a:off x="4791456" y="2606040"/>
            <a:ext cx="1463040" cy="274320"/>
          </a:xfrm>
          <a:prstGeom prst="rect">
            <a:avLst/>
          </a:prstGeom>
          <a:noFill/>
          <a:ln/>
        </p:spPr>
        <p:txBody>
          <a:bodyPr wrap="square" lIns="0" tIns="0" rIns="0" bIns="0" rtlCol="0" anchor="t"/>
          <a:lstStyle/>
          <a:p>
            <a:pPr indent="0" marL="0">
              <a:buNone/>
            </a:pPr>
            <a:r>
              <a:rPr lang="en-US" sz="1100" dirty="0">
                <a:solidFill>
                  <a:schemeClr val="accent6"/>
                </a:solidFill>
              </a:rPr>
              <a:t>Team member</a:t>
            </a:r>
            <a:endParaRPr lang="en-US" sz="1100" dirty="0"/>
          </a:p>
        </p:txBody>
      </p:sp>
      <p:sp>
        <p:nvSpPr>
          <p:cNvPr id="23" name="Text 18"/>
          <p:cNvSpPr txBox="1"/>
          <p:nvPr/>
        </p:nvSpPr>
        <p:spPr>
          <a:xfrm>
            <a:off x="4791456" y="3017520"/>
            <a:ext cx="1463040" cy="54864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Roll No. 02214815623</a:t>
            </a:r>
            <a:endParaRPr lang="en-US" sz="1100" dirty="0"/>
          </a:p>
          <a:p>
            <a:pPr indent="0" marL="0">
              <a:spcAft>
                <a:spcPts val="600"/>
              </a:spcAft>
              <a:buNone/>
            </a:pPr>
            <a:r>
              <a:rPr lang="en-US" sz="1100" dirty="0">
                <a:solidFill>
                  <a:schemeClr val="tx1"/>
                </a:solidFill>
              </a:rPr>
              <a:t>Section: CSE-AIML-1</a:t>
            </a:r>
            <a:endParaRPr lang="en-US" sz="1100" dirty="0"/>
          </a:p>
        </p:txBody>
      </p:sp>
      <p:sp>
        <p:nvSpPr>
          <p:cNvPr id="24" name="team-card-shadow"/>
          <p:cNvSpPr/>
          <p:nvPr/>
        </p:nvSpPr>
        <p:spPr>
          <a:xfrm>
            <a:off x="6739128" y="1380744"/>
            <a:ext cx="1828800" cy="2377440"/>
          </a:xfrm>
          <a:prstGeom prst="rect">
            <a:avLst/>
          </a:prstGeom>
          <a:solidFill>
            <a:schemeClr val="tx1"/>
          </a:solidFill>
          <a:ln w="12700">
            <a:solidFill>
              <a:schemeClr val="tx1"/>
            </a:solidFill>
            <a:prstDash val="solid"/>
          </a:ln>
        </p:spPr>
      </p:sp>
      <p:sp>
        <p:nvSpPr>
          <p:cNvPr id="25" name="team-card"/>
          <p:cNvSpPr/>
          <p:nvPr/>
        </p:nvSpPr>
        <p:spPr>
          <a:xfrm>
            <a:off x="6684264" y="1325880"/>
            <a:ext cx="1828800" cy="2377440"/>
          </a:xfrm>
          <a:prstGeom prst="rect">
            <a:avLst/>
          </a:prstGeom>
          <a:solidFill>
            <a:schemeClr val="tx2"/>
          </a:solidFill>
          <a:ln w="15875">
            <a:solidFill>
              <a:schemeClr val="tx1"/>
            </a:solidFill>
            <a:prstDash val="solid"/>
          </a:ln>
        </p:spPr>
      </p:sp>
      <p:sp>
        <p:nvSpPr>
          <p:cNvPr id="26" name="icon-circle"/>
          <p:cNvSpPr/>
          <p:nvPr/>
        </p:nvSpPr>
        <p:spPr>
          <a:xfrm>
            <a:off x="6867144" y="1554480"/>
            <a:ext cx="548640" cy="548640"/>
          </a:xfrm>
          <a:prstGeom prst="ellipse">
            <a:avLst/>
          </a:prstGeom>
          <a:solidFill>
            <a:schemeClr val="accent1"/>
          </a:solidFill>
          <a:ln w="12700">
            <a:solidFill>
              <a:schemeClr val="accent1"/>
            </a:solidFill>
            <a:prstDash val="solid"/>
          </a:ln>
        </p:spPr>
      </p:sp>
      <p:pic>
        <p:nvPicPr>
          <p:cNvPr id="27" name="Image 3" descr="preencoded.png">    </p:cNvPr>
          <p:cNvPicPr>
            <a:picLocks noChangeAspect="1"/>
          </p:cNvPicPr>
          <p:nvPr/>
        </p:nvPicPr>
        <p:blipFill>
          <a:blip r:embed="rId4"/>
          <a:stretch>
            <a:fillRect/>
          </a:stretch>
        </p:blipFill>
        <p:spPr>
          <a:xfrm>
            <a:off x="7004304" y="1691640"/>
            <a:ext cx="274320" cy="274320"/>
          </a:xfrm>
          <a:prstGeom prst="rect">
            <a:avLst/>
          </a:prstGeom>
        </p:spPr>
      </p:pic>
      <p:sp>
        <p:nvSpPr>
          <p:cNvPr id="28" name="Text 22"/>
          <p:cNvSpPr txBox="1"/>
          <p:nvPr/>
        </p:nvSpPr>
        <p:spPr>
          <a:xfrm>
            <a:off x="6867144" y="2240280"/>
            <a:ext cx="1463040" cy="36576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Dr. Mohit Mittal</a:t>
            </a:r>
            <a:endParaRPr lang="en-US" sz="1500" dirty="0"/>
          </a:p>
        </p:txBody>
      </p:sp>
      <p:sp>
        <p:nvSpPr>
          <p:cNvPr id="29" name="Text 23"/>
          <p:cNvSpPr txBox="1"/>
          <p:nvPr/>
        </p:nvSpPr>
        <p:spPr>
          <a:xfrm>
            <a:off x="6867144" y="2606040"/>
            <a:ext cx="1463040" cy="274320"/>
          </a:xfrm>
          <a:prstGeom prst="rect">
            <a:avLst/>
          </a:prstGeom>
          <a:noFill/>
          <a:ln/>
        </p:spPr>
        <p:txBody>
          <a:bodyPr wrap="square" lIns="0" tIns="0" rIns="0" bIns="0" rtlCol="0" anchor="t"/>
          <a:lstStyle/>
          <a:p>
            <a:pPr indent="0" marL="0">
              <a:buNone/>
            </a:pPr>
            <a:r>
              <a:rPr lang="en-US" sz="1100" dirty="0">
                <a:solidFill>
                  <a:schemeClr val="bg2"/>
                </a:solidFill>
              </a:rPr>
              <a:t>Project Guide (Mentor)</a:t>
            </a:r>
            <a:endParaRPr lang="en-US" sz="1100" dirty="0"/>
          </a:p>
        </p:txBody>
      </p:sp>
      <p:sp>
        <p:nvSpPr>
          <p:cNvPr id="30" name="Text 24"/>
          <p:cNvSpPr txBox="1"/>
          <p:nvPr/>
        </p:nvSpPr>
        <p:spPr>
          <a:xfrm>
            <a:off x="6867144" y="3017520"/>
            <a:ext cx="1463040" cy="457200"/>
          </a:xfrm>
          <a:prstGeom prst="rect">
            <a:avLst/>
          </a:prstGeom>
          <a:noFill/>
          <a:ln/>
        </p:spPr>
        <p:txBody>
          <a:bodyPr wrap="square" lIns="0" tIns="0" rIns="0" bIns="0" rtlCol="0" anchor="t"/>
          <a:lstStyle/>
          <a:p>
            <a:pPr indent="0" marL="0">
              <a:buNone/>
            </a:pPr>
            <a:r>
              <a:rPr lang="en-US" sz="1100" dirty="0">
                <a:solidFill>
                  <a:schemeClr val="bg2"/>
                </a:solidFill>
              </a:rPr>
              <a:t>Dept. of CSE-AIML, MAIT</a:t>
            </a:r>
            <a:endParaRPr lang="en-US" sz="11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Motivation and problem statement</a:t>
            </a:r>
            <a:endParaRPr lang="en-US" sz="2800" dirty="0"/>
          </a:p>
        </p:txBody>
      </p:sp>
      <p:sp>
        <p:nvSpPr>
          <p:cNvPr id="3" name="Text 1"/>
          <p:cNvSpPr txBox="1"/>
          <p:nvPr/>
        </p:nvSpPr>
        <p:spPr>
          <a:xfrm>
            <a:off x="457200" y="1097280"/>
            <a:ext cx="3383280" cy="13258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Hospitals cannot pool patient records, so each trains on the few patients it sees.</a:t>
            </a:r>
            <a:endParaRPr lang="en-US" sz="1900" dirty="0"/>
          </a:p>
        </p:txBody>
      </p:sp>
      <p:sp>
        <p:nvSpPr>
          <p:cNvPr id="4" name="Text 2"/>
          <p:cNvSpPr txBox="1"/>
          <p:nvPr/>
        </p:nvSpPr>
        <p:spPr>
          <a:xfrm>
            <a:off x="457200" y="2560320"/>
            <a:ext cx="3291840" cy="731520"/>
          </a:xfrm>
          <a:prstGeom prst="rect">
            <a:avLst/>
          </a:prstGeom>
          <a:noFill/>
          <a:ln/>
        </p:spPr>
        <p:txBody>
          <a:bodyPr wrap="square" lIns="0" tIns="0" rIns="0" bIns="0" rtlCol="0" anchor="t"/>
          <a:lstStyle/>
          <a:p>
            <a:pPr indent="0" marL="0">
              <a:buNone/>
            </a:pPr>
            <a:r>
              <a:rPr lang="en-US" sz="1400" dirty="0">
                <a:solidFill>
                  <a:schemeClr val="accent6"/>
                </a:solidFill>
              </a:rPr>
              <a:t>Federated learning keeps data local, but it trusts one central server completely.</a:t>
            </a:r>
            <a:endParaRPr lang="en-US" sz="1400" dirty="0"/>
          </a:p>
        </p:txBody>
      </p:sp>
      <p:sp>
        <p:nvSpPr>
          <p:cNvPr id="5" name="pill"/>
          <p:cNvSpPr/>
          <p:nvPr/>
        </p:nvSpPr>
        <p:spPr>
          <a:xfrm>
            <a:off x="457200" y="3429000"/>
            <a:ext cx="2743200" cy="365760"/>
          </a:xfrm>
          <a:prstGeom prst="roundRect">
            <a:avLst>
              <a:gd name="adj" fmla="val 50000"/>
            </a:avLst>
          </a:prstGeom>
          <a:solidFill>
            <a:schemeClr val="accent1"/>
          </a:solidFill>
          <a:ln w="12700">
            <a:solidFill>
              <a:schemeClr val="accent1"/>
            </a:solidFill>
            <a:prstDash val="solid"/>
          </a:ln>
        </p:spPr>
      </p:sp>
      <p:sp>
        <p:nvSpPr>
          <p:cNvPr id="6" name="Text 4"/>
          <p:cNvSpPr txBox="1"/>
          <p:nvPr/>
        </p:nvSpPr>
        <p:spPr>
          <a:xfrm>
            <a:off x="457200" y="3429000"/>
            <a:ext cx="2743200" cy="365760"/>
          </a:xfrm>
          <a:prstGeom prst="rect">
            <a:avLst/>
          </a:prstGeom>
          <a:noFill/>
          <a:ln/>
        </p:spPr>
        <p:txBody>
          <a:bodyPr wrap="square" lIns="0" tIns="0" rIns="0" bIns="0" rtlCol="0" anchor="ctr"/>
          <a:lstStyle/>
          <a:p>
            <a:pPr algn="ctr" indent="0" marL="0">
              <a:buNone/>
            </a:pPr>
            <a:r>
              <a:rPr lang="en-US" sz="1200" b="1" dirty="0">
                <a:solidFill>
                  <a:schemeClr val="tx1"/>
                </a:solidFill>
              </a:rPr>
              <a:t>Sangam removes that trusted server</a:t>
            </a:r>
            <a:endParaRPr lang="en-US" sz="1200" dirty="0"/>
          </a:p>
        </p:txBody>
      </p:sp>
      <p:sp>
        <p:nvSpPr>
          <p:cNvPr id="7" name="icon-circle"/>
          <p:cNvSpPr/>
          <p:nvPr/>
        </p:nvSpPr>
        <p:spPr>
          <a:xfrm>
            <a:off x="4206240" y="1097280"/>
            <a:ext cx="548640" cy="548640"/>
          </a:xfrm>
          <a:prstGeom prst="ellipse">
            <a:avLst/>
          </a:prstGeom>
          <a:solidFill>
            <a:schemeClr val="tx2"/>
          </a:solidFill>
          <a:ln w="12700">
            <a:solidFill>
              <a:schemeClr val="tx2"/>
            </a:solidFill>
            <a:prstDash val="solid"/>
          </a:ln>
        </p:spPr>
      </p:sp>
      <p:pic>
        <p:nvPicPr>
          <p:cNvPr id="8" name="Image 0" descr="preencoded.png">    </p:cNvPr>
          <p:cNvPicPr>
            <a:picLocks noChangeAspect="1"/>
          </p:cNvPicPr>
          <p:nvPr/>
        </p:nvPicPr>
        <p:blipFill>
          <a:blip r:embed="rId1"/>
          <a:stretch>
            <a:fillRect/>
          </a:stretch>
        </p:blipFill>
        <p:spPr>
          <a:xfrm>
            <a:off x="4343400" y="1234440"/>
            <a:ext cx="274320" cy="274320"/>
          </a:xfrm>
          <a:prstGeom prst="rect">
            <a:avLst/>
          </a:prstGeom>
        </p:spPr>
      </p:pic>
      <p:sp>
        <p:nvSpPr>
          <p:cNvPr id="9" name="Text 6"/>
          <p:cNvSpPr txBox="1"/>
          <p:nvPr/>
        </p:nvSpPr>
        <p:spPr>
          <a:xfrm>
            <a:off x="4937760" y="1078992"/>
            <a:ext cx="3749040" cy="274320"/>
          </a:xfrm>
          <a:prstGeom prst="rect">
            <a:avLst/>
          </a:prstGeom>
          <a:noFill/>
          <a:ln/>
        </p:spPr>
        <p:txBody>
          <a:bodyPr wrap="square" lIns="0" tIns="0" rIns="0" bIns="0" rtlCol="0" anchor="t"/>
          <a:lstStyle/>
          <a:p>
            <a:pPr indent="0" marL="0">
              <a:buNone/>
            </a:pPr>
            <a:r>
              <a:rPr lang="en-US" sz="1500" b="1" dirty="0">
                <a:solidFill>
                  <a:schemeClr val="tx1"/>
                </a:solidFill>
              </a:rPr>
              <a:t>Data silos</a:t>
            </a:r>
            <a:endParaRPr lang="en-US" sz="1500" dirty="0"/>
          </a:p>
        </p:txBody>
      </p:sp>
      <p:sp>
        <p:nvSpPr>
          <p:cNvPr id="10" name="Text 7"/>
          <p:cNvSpPr txBox="1"/>
          <p:nvPr/>
        </p:nvSpPr>
        <p:spPr>
          <a:xfrm>
            <a:off x="4937760" y="1371600"/>
            <a:ext cx="3749040" cy="411480"/>
          </a:xfrm>
          <a:prstGeom prst="rect">
            <a:avLst/>
          </a:prstGeom>
          <a:noFill/>
          <a:ln/>
        </p:spPr>
        <p:txBody>
          <a:bodyPr wrap="square" lIns="0" tIns="0" rIns="0" bIns="0" rtlCol="0" anchor="t"/>
          <a:lstStyle/>
          <a:p>
            <a:pPr indent="0" marL="0">
              <a:buNone/>
            </a:pPr>
            <a:r>
              <a:rPr lang="en-US" sz="1200" dirty="0">
                <a:solidFill>
                  <a:schemeClr val="accent6"/>
                </a:solidFill>
              </a:rPr>
              <a:t>Privacy law keeps records inside each hospital; local models stay weak.</a:t>
            </a:r>
            <a:endParaRPr lang="en-US" sz="1200" dirty="0"/>
          </a:p>
        </p:txBody>
      </p:sp>
      <p:sp>
        <p:nvSpPr>
          <p:cNvPr id="11" name="icon-circle"/>
          <p:cNvSpPr/>
          <p:nvPr/>
        </p:nvSpPr>
        <p:spPr>
          <a:xfrm>
            <a:off x="4206240" y="1965960"/>
            <a:ext cx="548640" cy="548640"/>
          </a:xfrm>
          <a:prstGeom prst="ellipse">
            <a:avLst/>
          </a:prstGeom>
          <a:solidFill>
            <a:schemeClr val="tx2"/>
          </a:solidFill>
          <a:ln w="1270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4343400" y="2103120"/>
            <a:ext cx="274320" cy="274320"/>
          </a:xfrm>
          <a:prstGeom prst="rect">
            <a:avLst/>
          </a:prstGeom>
        </p:spPr>
      </p:pic>
      <p:sp>
        <p:nvSpPr>
          <p:cNvPr id="13" name="Text 9"/>
          <p:cNvSpPr txBox="1"/>
          <p:nvPr/>
        </p:nvSpPr>
        <p:spPr>
          <a:xfrm>
            <a:off x="4937760" y="1947672"/>
            <a:ext cx="3749040" cy="274320"/>
          </a:xfrm>
          <a:prstGeom prst="rect">
            <a:avLst/>
          </a:prstGeom>
          <a:noFill/>
          <a:ln/>
        </p:spPr>
        <p:txBody>
          <a:bodyPr wrap="square" lIns="0" tIns="0" rIns="0" bIns="0" rtlCol="0" anchor="t"/>
          <a:lstStyle/>
          <a:p>
            <a:pPr indent="0" marL="0">
              <a:buNone/>
            </a:pPr>
            <a:r>
              <a:rPr lang="en-US" sz="1500" b="1" dirty="0">
                <a:solidFill>
                  <a:schemeClr val="tx1"/>
                </a:solidFill>
              </a:rPr>
              <a:t>One point of trust</a:t>
            </a:r>
            <a:endParaRPr lang="en-US" sz="1500" dirty="0"/>
          </a:p>
        </p:txBody>
      </p:sp>
      <p:sp>
        <p:nvSpPr>
          <p:cNvPr id="14" name="Text 10"/>
          <p:cNvSpPr txBox="1"/>
          <p:nvPr/>
        </p:nvSpPr>
        <p:spPr>
          <a:xfrm>
            <a:off x="4937760" y="2240280"/>
            <a:ext cx="3749040" cy="411480"/>
          </a:xfrm>
          <a:prstGeom prst="rect">
            <a:avLst/>
          </a:prstGeom>
          <a:noFill/>
          <a:ln/>
        </p:spPr>
        <p:txBody>
          <a:bodyPr wrap="square" lIns="0" tIns="0" rIns="0" bIns="0" rtlCol="0" anchor="t"/>
          <a:lstStyle/>
          <a:p>
            <a:pPr indent="0" marL="0">
              <a:buNone/>
            </a:pPr>
            <a:r>
              <a:rPr lang="en-US" sz="1200" dirty="0">
                <a:solidFill>
                  <a:schemeClr val="accent6"/>
                </a:solidFill>
              </a:rPr>
              <a:t>A single aggregator can fail, cheat, or see every update.</a:t>
            </a:r>
            <a:endParaRPr lang="en-US" sz="1200" dirty="0"/>
          </a:p>
        </p:txBody>
      </p:sp>
      <p:sp>
        <p:nvSpPr>
          <p:cNvPr id="15" name="icon-circle"/>
          <p:cNvSpPr/>
          <p:nvPr/>
        </p:nvSpPr>
        <p:spPr>
          <a:xfrm>
            <a:off x="4206240" y="2834640"/>
            <a:ext cx="548640" cy="54864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4343400" y="2971800"/>
            <a:ext cx="274320" cy="274320"/>
          </a:xfrm>
          <a:prstGeom prst="rect">
            <a:avLst/>
          </a:prstGeom>
        </p:spPr>
      </p:pic>
      <p:sp>
        <p:nvSpPr>
          <p:cNvPr id="17" name="Text 12"/>
          <p:cNvSpPr txBox="1"/>
          <p:nvPr/>
        </p:nvSpPr>
        <p:spPr>
          <a:xfrm>
            <a:off x="4937760" y="2816352"/>
            <a:ext cx="3749040" cy="274320"/>
          </a:xfrm>
          <a:prstGeom prst="rect">
            <a:avLst/>
          </a:prstGeom>
          <a:noFill/>
          <a:ln/>
        </p:spPr>
        <p:txBody>
          <a:bodyPr wrap="square" lIns="0" tIns="0" rIns="0" bIns="0" rtlCol="0" anchor="t"/>
          <a:lstStyle/>
          <a:p>
            <a:pPr indent="0" marL="0">
              <a:buNone/>
            </a:pPr>
            <a:r>
              <a:rPr lang="en-US" sz="1500" b="1" dirty="0">
                <a:solidFill>
                  <a:schemeClr val="tx1"/>
                </a:solidFill>
              </a:rPr>
              <a:t>No defence or audit</a:t>
            </a:r>
            <a:endParaRPr lang="en-US" sz="1500" dirty="0"/>
          </a:p>
        </p:txBody>
      </p:sp>
      <p:sp>
        <p:nvSpPr>
          <p:cNvPr id="18" name="Text 13"/>
          <p:cNvSpPr txBox="1"/>
          <p:nvPr/>
        </p:nvSpPr>
        <p:spPr>
          <a:xfrm>
            <a:off x="4937760" y="3108960"/>
            <a:ext cx="3749040" cy="411480"/>
          </a:xfrm>
          <a:prstGeom prst="rect">
            <a:avLst/>
          </a:prstGeom>
          <a:noFill/>
          <a:ln/>
        </p:spPr>
        <p:txBody>
          <a:bodyPr wrap="square" lIns="0" tIns="0" rIns="0" bIns="0" rtlCol="0" anchor="t"/>
          <a:lstStyle/>
          <a:p>
            <a:pPr indent="0" marL="0">
              <a:buNone/>
            </a:pPr>
            <a:r>
              <a:rPr lang="en-US" sz="1200" dirty="0">
                <a:solidFill>
                  <a:schemeClr val="accent6"/>
                </a:solidFill>
              </a:rPr>
              <a:t>Poisoned updates and free riders go unnoticed; no tamper-proof record.</a:t>
            </a:r>
            <a:endParaRPr lang="en-US" sz="1200" dirty="0"/>
          </a:p>
        </p:txBody>
      </p:sp>
      <p:sp>
        <p:nvSpPr>
          <p:cNvPr id="19" name="icon-circle"/>
          <p:cNvSpPr/>
          <p:nvPr/>
        </p:nvSpPr>
        <p:spPr>
          <a:xfrm>
            <a:off x="4206240" y="3703320"/>
            <a:ext cx="548640" cy="548640"/>
          </a:xfrm>
          <a:prstGeom prst="ellipse">
            <a:avLst/>
          </a:prstGeom>
          <a:solidFill>
            <a:schemeClr val="tx2"/>
          </a:solidFill>
          <a:ln w="12700">
            <a:solidFill>
              <a:schemeClr val="tx2"/>
            </a:solidFill>
            <a:prstDash val="solid"/>
          </a:ln>
        </p:spPr>
      </p:sp>
      <p:pic>
        <p:nvPicPr>
          <p:cNvPr id="20" name="Image 3" descr="preencoded.png">    </p:cNvPr>
          <p:cNvPicPr>
            <a:picLocks noChangeAspect="1"/>
          </p:cNvPicPr>
          <p:nvPr/>
        </p:nvPicPr>
        <p:blipFill>
          <a:blip r:embed="rId4"/>
          <a:stretch>
            <a:fillRect/>
          </a:stretch>
        </p:blipFill>
        <p:spPr>
          <a:xfrm>
            <a:off x="4343400" y="3840480"/>
            <a:ext cx="274320" cy="274320"/>
          </a:xfrm>
          <a:prstGeom prst="rect">
            <a:avLst/>
          </a:prstGeom>
        </p:spPr>
      </p:pic>
      <p:sp>
        <p:nvSpPr>
          <p:cNvPr id="21" name="Text 15"/>
          <p:cNvSpPr txBox="1"/>
          <p:nvPr/>
        </p:nvSpPr>
        <p:spPr>
          <a:xfrm>
            <a:off x="4937760" y="3685032"/>
            <a:ext cx="3749040" cy="274320"/>
          </a:xfrm>
          <a:prstGeom prst="rect">
            <a:avLst/>
          </a:prstGeom>
          <a:noFill/>
          <a:ln/>
        </p:spPr>
        <p:txBody>
          <a:bodyPr wrap="square" lIns="0" tIns="0" rIns="0" bIns="0" rtlCol="0" anchor="t"/>
          <a:lstStyle/>
          <a:p>
            <a:pPr indent="0" marL="0">
              <a:buNone/>
            </a:pPr>
            <a:r>
              <a:rPr lang="en-US" sz="1500" b="1" dirty="0">
                <a:solidFill>
                  <a:schemeClr val="tx1"/>
                </a:solidFill>
              </a:rPr>
              <a:t>No fair incentive</a:t>
            </a:r>
            <a:endParaRPr lang="en-US" sz="1500" dirty="0"/>
          </a:p>
        </p:txBody>
      </p:sp>
      <p:sp>
        <p:nvSpPr>
          <p:cNvPr id="22" name="Text 16"/>
          <p:cNvSpPr txBox="1"/>
          <p:nvPr/>
        </p:nvSpPr>
        <p:spPr>
          <a:xfrm>
            <a:off x="4937760" y="3977640"/>
            <a:ext cx="3749040" cy="411480"/>
          </a:xfrm>
          <a:prstGeom prst="rect">
            <a:avLst/>
          </a:prstGeom>
          <a:noFill/>
          <a:ln/>
        </p:spPr>
        <p:txBody>
          <a:bodyPr wrap="square" lIns="0" tIns="0" rIns="0" bIns="0" rtlCol="0" anchor="t"/>
          <a:lstStyle/>
          <a:p>
            <a:pPr indent="0" marL="0">
              <a:buNone/>
            </a:pPr>
            <a:r>
              <a:rPr lang="en-US" sz="1200" dirty="0">
                <a:solidFill>
                  <a:schemeClr val="accent6"/>
                </a:solidFill>
              </a:rPr>
              <a:t>Hospitals that contribute data and compute get no transparent credit.</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Objectives</a:t>
            </a:r>
            <a:endParaRPr lang="en-US" sz="2800" dirty="0"/>
          </a:p>
        </p:txBody>
      </p:sp>
      <p:sp>
        <p:nvSpPr>
          <p:cNvPr id="3" name="objective-shadow"/>
          <p:cNvSpPr/>
          <p:nvPr/>
        </p:nvSpPr>
        <p:spPr>
          <a:xfrm>
            <a:off x="512064" y="1243584"/>
            <a:ext cx="2560320" cy="1463040"/>
          </a:xfrm>
          <a:prstGeom prst="rect">
            <a:avLst/>
          </a:prstGeom>
          <a:solidFill>
            <a:schemeClr val="tx1"/>
          </a:solidFill>
          <a:ln w="12700">
            <a:solidFill>
              <a:schemeClr val="tx1"/>
            </a:solidFill>
            <a:prstDash val="solid"/>
          </a:ln>
        </p:spPr>
      </p:sp>
      <p:sp>
        <p:nvSpPr>
          <p:cNvPr id="4" name="objective"/>
          <p:cNvSpPr/>
          <p:nvPr/>
        </p:nvSpPr>
        <p:spPr>
          <a:xfrm>
            <a:off x="457200" y="1188720"/>
            <a:ext cx="2560320" cy="1463040"/>
          </a:xfrm>
          <a:prstGeom prst="rect">
            <a:avLst/>
          </a:prstGeom>
          <a:solidFill>
            <a:schemeClr val="bg1"/>
          </a:solidFill>
          <a:ln w="15875">
            <a:solidFill>
              <a:schemeClr val="tx1"/>
            </a:solidFill>
            <a:prstDash val="solid"/>
          </a:ln>
        </p:spPr>
      </p:sp>
      <p:sp>
        <p:nvSpPr>
          <p:cNvPr id="5" name="Text 3"/>
          <p:cNvSpPr txBox="1"/>
          <p:nvPr/>
        </p:nvSpPr>
        <p:spPr>
          <a:xfrm>
            <a:off x="640080" y="1325880"/>
            <a:ext cx="91440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640080" y="1783080"/>
            <a:ext cx="2194560" cy="777240"/>
          </a:xfrm>
          <a:prstGeom prst="rect">
            <a:avLst/>
          </a:prstGeom>
          <a:noFill/>
          <a:ln/>
        </p:spPr>
        <p:txBody>
          <a:bodyPr wrap="square" lIns="0" tIns="0" rIns="0" bIns="0" rtlCol="0" anchor="t"/>
          <a:lstStyle/>
          <a:p>
            <a:pPr indent="0" marL="0">
              <a:buNone/>
            </a:pPr>
            <a:r>
              <a:rPr lang="en-US" sz="1250" dirty="0">
                <a:solidFill>
                  <a:schemeClr val="tx1"/>
                </a:solidFill>
              </a:rPr>
              <a:t>Federated pipeline: hospitals train a shared diagnostic model without exchanging raw data</a:t>
            </a:r>
            <a:endParaRPr lang="en-US" sz="1250" dirty="0"/>
          </a:p>
        </p:txBody>
      </p:sp>
      <p:sp>
        <p:nvSpPr>
          <p:cNvPr id="7" name="objective-shadow"/>
          <p:cNvSpPr/>
          <p:nvPr/>
        </p:nvSpPr>
        <p:spPr>
          <a:xfrm>
            <a:off x="3300984" y="1243584"/>
            <a:ext cx="2560320" cy="1463040"/>
          </a:xfrm>
          <a:prstGeom prst="rect">
            <a:avLst/>
          </a:prstGeom>
          <a:solidFill>
            <a:schemeClr val="tx1"/>
          </a:solidFill>
          <a:ln w="12700">
            <a:solidFill>
              <a:schemeClr val="tx1"/>
            </a:solidFill>
            <a:prstDash val="solid"/>
          </a:ln>
        </p:spPr>
      </p:sp>
      <p:sp>
        <p:nvSpPr>
          <p:cNvPr id="8" name="objective"/>
          <p:cNvSpPr/>
          <p:nvPr/>
        </p:nvSpPr>
        <p:spPr>
          <a:xfrm>
            <a:off x="3246120" y="1188720"/>
            <a:ext cx="2560320" cy="1463040"/>
          </a:xfrm>
          <a:prstGeom prst="rect">
            <a:avLst/>
          </a:prstGeom>
          <a:solidFill>
            <a:schemeClr val="bg1"/>
          </a:solidFill>
          <a:ln w="15875">
            <a:solidFill>
              <a:schemeClr val="tx1"/>
            </a:solidFill>
            <a:prstDash val="solid"/>
          </a:ln>
        </p:spPr>
      </p:sp>
      <p:sp>
        <p:nvSpPr>
          <p:cNvPr id="9" name="Text 7"/>
          <p:cNvSpPr txBox="1"/>
          <p:nvPr/>
        </p:nvSpPr>
        <p:spPr>
          <a:xfrm>
            <a:off x="3429000" y="1325880"/>
            <a:ext cx="91440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3429000" y="1783080"/>
            <a:ext cx="2194560" cy="777240"/>
          </a:xfrm>
          <a:prstGeom prst="rect">
            <a:avLst/>
          </a:prstGeom>
          <a:noFill/>
          <a:ln/>
        </p:spPr>
        <p:txBody>
          <a:bodyPr wrap="square" lIns="0" tIns="0" rIns="0" bIns="0" rtlCol="0" anchor="t"/>
          <a:lstStyle/>
          <a:p>
            <a:pPr indent="0" marL="0">
              <a:buNone/>
            </a:pPr>
            <a:r>
              <a:rPr lang="en-US" sz="1250" dirty="0">
                <a:solidFill>
                  <a:schemeClr val="tx1"/>
                </a:solidFill>
              </a:rPr>
              <a:t>Smart contracts that run training rounds and commit to every update and global model</a:t>
            </a:r>
            <a:endParaRPr lang="en-US" sz="1250" dirty="0"/>
          </a:p>
        </p:txBody>
      </p:sp>
      <p:sp>
        <p:nvSpPr>
          <p:cNvPr id="11" name="objective-shadow"/>
          <p:cNvSpPr/>
          <p:nvPr/>
        </p:nvSpPr>
        <p:spPr>
          <a:xfrm>
            <a:off x="6089904" y="1243584"/>
            <a:ext cx="2560320" cy="1463040"/>
          </a:xfrm>
          <a:prstGeom prst="rect">
            <a:avLst/>
          </a:prstGeom>
          <a:solidFill>
            <a:schemeClr val="tx1"/>
          </a:solidFill>
          <a:ln w="12700">
            <a:solidFill>
              <a:schemeClr val="tx1"/>
            </a:solidFill>
            <a:prstDash val="solid"/>
          </a:ln>
        </p:spPr>
      </p:sp>
      <p:sp>
        <p:nvSpPr>
          <p:cNvPr id="12" name="objective"/>
          <p:cNvSpPr/>
          <p:nvPr/>
        </p:nvSpPr>
        <p:spPr>
          <a:xfrm>
            <a:off x="6035040" y="1188720"/>
            <a:ext cx="2560320" cy="1463040"/>
          </a:xfrm>
          <a:prstGeom prst="rect">
            <a:avLst/>
          </a:prstGeom>
          <a:solidFill>
            <a:schemeClr val="bg1"/>
          </a:solidFill>
          <a:ln w="15875">
            <a:solidFill>
              <a:schemeClr val="tx1"/>
            </a:solidFill>
            <a:prstDash val="solid"/>
          </a:ln>
        </p:spPr>
      </p:sp>
      <p:sp>
        <p:nvSpPr>
          <p:cNvPr id="13" name="Text 11"/>
          <p:cNvSpPr txBox="1"/>
          <p:nvPr/>
        </p:nvSpPr>
        <p:spPr>
          <a:xfrm>
            <a:off x="6217920" y="1325880"/>
            <a:ext cx="91440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6217920" y="1783080"/>
            <a:ext cx="2194560" cy="777240"/>
          </a:xfrm>
          <a:prstGeom prst="rect">
            <a:avLst/>
          </a:prstGeom>
          <a:noFill/>
          <a:ln/>
        </p:spPr>
        <p:txBody>
          <a:bodyPr wrap="square" lIns="0" tIns="0" rIns="0" bIns="0" rtlCol="0" anchor="t"/>
          <a:lstStyle/>
          <a:p>
            <a:pPr indent="0" marL="0">
              <a:buNone/>
            </a:pPr>
            <a:r>
              <a:rPr lang="en-US" sz="1250" dirty="0">
                <a:solidFill>
                  <a:schemeClr val="tx1"/>
                </a:solidFill>
              </a:rPr>
              <a:t>Secure aggregation and differential privacy so no party sees a raw update</a:t>
            </a:r>
            <a:endParaRPr lang="en-US" sz="1250" dirty="0"/>
          </a:p>
        </p:txBody>
      </p:sp>
      <p:sp>
        <p:nvSpPr>
          <p:cNvPr id="15" name="objective-shadow"/>
          <p:cNvSpPr/>
          <p:nvPr/>
        </p:nvSpPr>
        <p:spPr>
          <a:xfrm>
            <a:off x="512064" y="2935224"/>
            <a:ext cx="2560320" cy="1463040"/>
          </a:xfrm>
          <a:prstGeom prst="rect">
            <a:avLst/>
          </a:prstGeom>
          <a:solidFill>
            <a:schemeClr val="tx1"/>
          </a:solidFill>
          <a:ln w="12700">
            <a:solidFill>
              <a:schemeClr val="tx1"/>
            </a:solidFill>
            <a:prstDash val="solid"/>
          </a:ln>
        </p:spPr>
      </p:sp>
      <p:sp>
        <p:nvSpPr>
          <p:cNvPr id="16" name="objective"/>
          <p:cNvSpPr/>
          <p:nvPr/>
        </p:nvSpPr>
        <p:spPr>
          <a:xfrm>
            <a:off x="457200" y="2880360"/>
            <a:ext cx="2560320" cy="1463040"/>
          </a:xfrm>
          <a:prstGeom prst="rect">
            <a:avLst/>
          </a:prstGeom>
          <a:solidFill>
            <a:schemeClr val="bg1"/>
          </a:solidFill>
          <a:ln w="15875">
            <a:solidFill>
              <a:schemeClr val="tx1"/>
            </a:solidFill>
            <a:prstDash val="solid"/>
          </a:ln>
        </p:spPr>
      </p:sp>
      <p:sp>
        <p:nvSpPr>
          <p:cNvPr id="17" name="Text 15"/>
          <p:cNvSpPr txBox="1"/>
          <p:nvPr/>
        </p:nvSpPr>
        <p:spPr>
          <a:xfrm>
            <a:off x="640080" y="3017520"/>
            <a:ext cx="91440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640080" y="3474720"/>
            <a:ext cx="2194560" cy="777240"/>
          </a:xfrm>
          <a:prstGeom prst="rect">
            <a:avLst/>
          </a:prstGeom>
          <a:noFill/>
          <a:ln/>
        </p:spPr>
        <p:txBody>
          <a:bodyPr wrap="square" lIns="0" tIns="0" rIns="0" bIns="0" rtlCol="0" anchor="t"/>
          <a:lstStyle/>
          <a:p>
            <a:pPr indent="0" marL="0">
              <a:buNone/>
            </a:pPr>
            <a:r>
              <a:rPr lang="en-US" sz="1250" dirty="0">
                <a:solidFill>
                  <a:schemeClr val="tx1"/>
                </a:solidFill>
              </a:rPr>
              <a:t>Contribution scoring and reputation that resist poisoning and free riding</a:t>
            </a:r>
            <a:endParaRPr lang="en-US" sz="1250" dirty="0"/>
          </a:p>
        </p:txBody>
      </p:sp>
      <p:sp>
        <p:nvSpPr>
          <p:cNvPr id="19" name="objective-shadow"/>
          <p:cNvSpPr/>
          <p:nvPr/>
        </p:nvSpPr>
        <p:spPr>
          <a:xfrm>
            <a:off x="3300984" y="2935224"/>
            <a:ext cx="2560320" cy="1463040"/>
          </a:xfrm>
          <a:prstGeom prst="rect">
            <a:avLst/>
          </a:prstGeom>
          <a:solidFill>
            <a:schemeClr val="tx1"/>
          </a:solidFill>
          <a:ln w="12700">
            <a:solidFill>
              <a:schemeClr val="tx1"/>
            </a:solidFill>
            <a:prstDash val="solid"/>
          </a:ln>
        </p:spPr>
      </p:sp>
      <p:sp>
        <p:nvSpPr>
          <p:cNvPr id="20" name="objective"/>
          <p:cNvSpPr/>
          <p:nvPr/>
        </p:nvSpPr>
        <p:spPr>
          <a:xfrm>
            <a:off x="3246120" y="2880360"/>
            <a:ext cx="2560320" cy="1463040"/>
          </a:xfrm>
          <a:prstGeom prst="rect">
            <a:avLst/>
          </a:prstGeom>
          <a:solidFill>
            <a:schemeClr val="bg1"/>
          </a:solidFill>
          <a:ln w="15875">
            <a:solidFill>
              <a:schemeClr val="tx1"/>
            </a:solidFill>
            <a:prstDash val="solid"/>
          </a:ln>
        </p:spPr>
      </p:sp>
      <p:sp>
        <p:nvSpPr>
          <p:cNvPr id="21" name="Text 19"/>
          <p:cNvSpPr txBox="1"/>
          <p:nvPr/>
        </p:nvSpPr>
        <p:spPr>
          <a:xfrm>
            <a:off x="3429000" y="3017520"/>
            <a:ext cx="91440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05</a:t>
            </a:r>
            <a:endParaRPr lang="en-US" sz="2400" dirty="0"/>
          </a:p>
        </p:txBody>
      </p:sp>
      <p:sp>
        <p:nvSpPr>
          <p:cNvPr id="22" name="Text 20"/>
          <p:cNvSpPr txBox="1"/>
          <p:nvPr/>
        </p:nvSpPr>
        <p:spPr>
          <a:xfrm>
            <a:off x="3429000" y="3474720"/>
            <a:ext cx="2194560" cy="777240"/>
          </a:xfrm>
          <a:prstGeom prst="rect">
            <a:avLst/>
          </a:prstGeom>
          <a:noFill/>
          <a:ln/>
        </p:spPr>
        <p:txBody>
          <a:bodyPr wrap="square" lIns="0" tIns="0" rIns="0" bIns="0" rtlCol="0" anchor="t"/>
          <a:lstStyle/>
          <a:p>
            <a:pPr indent="0" marL="0">
              <a:buNone/>
            </a:pPr>
            <a:r>
              <a:rPr lang="en-US" sz="1250" dirty="0">
                <a:solidFill>
                  <a:schemeClr val="tx1"/>
                </a:solidFill>
              </a:rPr>
              <a:t>On-chain audit trail and model provenance for every round</a:t>
            </a:r>
            <a:endParaRPr lang="en-US" sz="1250" dirty="0"/>
          </a:p>
        </p:txBody>
      </p:sp>
      <p:sp>
        <p:nvSpPr>
          <p:cNvPr id="23" name="objective-shadow"/>
          <p:cNvSpPr/>
          <p:nvPr/>
        </p:nvSpPr>
        <p:spPr>
          <a:xfrm>
            <a:off x="6089904" y="2935224"/>
            <a:ext cx="2560320" cy="1463040"/>
          </a:xfrm>
          <a:prstGeom prst="rect">
            <a:avLst/>
          </a:prstGeom>
          <a:solidFill>
            <a:schemeClr val="tx1"/>
          </a:solidFill>
          <a:ln w="12700">
            <a:solidFill>
              <a:schemeClr val="tx1"/>
            </a:solidFill>
            <a:prstDash val="solid"/>
          </a:ln>
        </p:spPr>
      </p:sp>
      <p:sp>
        <p:nvSpPr>
          <p:cNvPr id="24" name="objective"/>
          <p:cNvSpPr/>
          <p:nvPr/>
        </p:nvSpPr>
        <p:spPr>
          <a:xfrm>
            <a:off x="6035040" y="2880360"/>
            <a:ext cx="2560320" cy="1463040"/>
          </a:xfrm>
          <a:prstGeom prst="rect">
            <a:avLst/>
          </a:prstGeom>
          <a:solidFill>
            <a:schemeClr val="bg1"/>
          </a:solidFill>
          <a:ln w="15875">
            <a:solidFill>
              <a:schemeClr val="tx1"/>
            </a:solidFill>
            <a:prstDash val="solid"/>
          </a:ln>
        </p:spPr>
      </p:sp>
      <p:sp>
        <p:nvSpPr>
          <p:cNvPr id="25" name="Text 23"/>
          <p:cNvSpPr txBox="1"/>
          <p:nvPr/>
        </p:nvSpPr>
        <p:spPr>
          <a:xfrm>
            <a:off x="6217920" y="3017520"/>
            <a:ext cx="91440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06</a:t>
            </a:r>
            <a:endParaRPr lang="en-US" sz="2400" dirty="0"/>
          </a:p>
        </p:txBody>
      </p:sp>
      <p:sp>
        <p:nvSpPr>
          <p:cNvPr id="26" name="Text 24"/>
          <p:cNvSpPr txBox="1"/>
          <p:nvPr/>
        </p:nvSpPr>
        <p:spPr>
          <a:xfrm>
            <a:off x="6217920" y="3474720"/>
            <a:ext cx="2194560" cy="777240"/>
          </a:xfrm>
          <a:prstGeom prst="rect">
            <a:avLst/>
          </a:prstGeom>
          <a:noFill/>
          <a:ln/>
        </p:spPr>
        <p:txBody>
          <a:bodyPr wrap="square" lIns="0" tIns="0" rIns="0" bIns="0" rtlCol="0" anchor="t"/>
          <a:lstStyle/>
          <a:p>
            <a:pPr indent="0" marL="0">
              <a:buNone/>
            </a:pPr>
            <a:r>
              <a:rPr lang="en-US" sz="1250" dirty="0">
                <a:solidFill>
                  <a:schemeClr val="tx1"/>
                </a:solidFill>
              </a:rPr>
              <a:t>Evaluate accuracy, robustness and privacy on a public medical dataset</a:t>
            </a:r>
            <a:endParaRPr lang="en-US" sz="12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Literature survey</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1005840"/>
                <a:gridCol w="1005840"/>
                <a:gridCol w="960120"/>
                <a:gridCol w="960120"/>
                <a:gridCol w="1005840"/>
                <a:gridCol w="1005840"/>
              </a:tblGrid>
              <a:tr h="310896">
                <a:tc>
                  <a:txBody>
                    <a:bodyPr/>
                    <a:lstStyle/>
                    <a:p>
                      <a:pPr algn="l" indent="0" marL="0">
                        <a:buNone/>
                      </a:pPr>
                      <a:r>
                        <a:rPr lang="en-US" sz="1100" b="1" dirty="0">
                          <a:solidFill>
                            <a:srgbClr val="F6F2EA"/>
                          </a:solidFill>
                          <a:latin typeface="Calibri" pitchFamily="34" charset="0"/>
                          <a:ea typeface="Calibri" pitchFamily="34" charset="-122"/>
                          <a:cs typeface="Calibri" pitchFamily="34" charset="-120"/>
                        </a:rPr>
                        <a:t>Work</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c>
                  <a:txBody>
                    <a:bodyPr/>
                    <a:lstStyle/>
                    <a:p>
                      <a:pPr algn="ctr" indent="0" marL="0">
                        <a:buNone/>
                      </a:pPr>
                      <a:r>
                        <a:rPr lang="en-US" sz="1100" b="1" dirty="0">
                          <a:solidFill>
                            <a:srgbClr val="F6F2EA"/>
                          </a:solidFill>
                          <a:latin typeface="Calibri" pitchFamily="34" charset="0"/>
                          <a:ea typeface="Calibri" pitchFamily="34" charset="-122"/>
                          <a:cs typeface="Calibri" pitchFamily="34" charset="-120"/>
                        </a:rPr>
                        <a:t>Decentralised</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c>
                  <a:txBody>
                    <a:bodyPr/>
                    <a:lstStyle/>
                    <a:p>
                      <a:pPr algn="ctr" indent="0" marL="0">
                        <a:buNone/>
                      </a:pPr>
                      <a:r>
                        <a:rPr lang="en-US" sz="1100" b="1" dirty="0">
                          <a:solidFill>
                            <a:srgbClr val="F6F2EA"/>
                          </a:solidFill>
                          <a:latin typeface="Calibri" pitchFamily="34" charset="0"/>
                          <a:ea typeface="Calibri" pitchFamily="34" charset="-122"/>
                          <a:cs typeface="Calibri" pitchFamily="34" charset="-120"/>
                        </a:rPr>
                        <a:t>On-chain audit</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c>
                  <a:txBody>
                    <a:bodyPr/>
                    <a:lstStyle/>
                    <a:p>
                      <a:pPr algn="ctr" indent="0" marL="0">
                        <a:buNone/>
                      </a:pPr>
                      <a:r>
                        <a:rPr lang="en-US" sz="1100" b="1" dirty="0">
                          <a:solidFill>
                            <a:srgbClr val="F6F2EA"/>
                          </a:solidFill>
                          <a:latin typeface="Calibri" pitchFamily="34" charset="0"/>
                          <a:ea typeface="Calibri" pitchFamily="34" charset="-122"/>
                          <a:cs typeface="Calibri" pitchFamily="34" charset="-120"/>
                        </a:rPr>
                        <a:t>Secure agg.</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c>
                  <a:txBody>
                    <a:bodyPr/>
                    <a:lstStyle/>
                    <a:p>
                      <a:pPr algn="ctr" indent="0" marL="0">
                        <a:buNone/>
                      </a:pPr>
                      <a:r>
                        <a:rPr lang="en-US" sz="1100" b="1" dirty="0">
                          <a:solidFill>
                            <a:srgbClr val="F6F2EA"/>
                          </a:solidFill>
                          <a:latin typeface="Calibri" pitchFamily="34" charset="0"/>
                          <a:ea typeface="Calibri" pitchFamily="34" charset="-122"/>
                          <a:cs typeface="Calibri" pitchFamily="34" charset="-120"/>
                        </a:rPr>
                        <a:t>Diff. privacy</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c>
                  <a:txBody>
                    <a:bodyPr/>
                    <a:lstStyle/>
                    <a:p>
                      <a:pPr algn="ctr" indent="0" marL="0">
                        <a:buNone/>
                      </a:pPr>
                      <a:r>
                        <a:rPr lang="en-US" sz="1100" b="1" dirty="0">
                          <a:solidFill>
                            <a:srgbClr val="F6F2EA"/>
                          </a:solidFill>
                          <a:latin typeface="Calibri" pitchFamily="34" charset="0"/>
                          <a:ea typeface="Calibri" pitchFamily="34" charset="-122"/>
                          <a:cs typeface="Calibri" pitchFamily="34" charset="-120"/>
                        </a:rPr>
                        <a:t>Poison defence</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c>
                  <a:txBody>
                    <a:bodyPr/>
                    <a:lstStyle/>
                    <a:p>
                      <a:pPr algn="ctr" indent="0" marL="0">
                        <a:buNone/>
                      </a:pPr>
                      <a:r>
                        <a:rPr lang="en-US" sz="1100" b="1" dirty="0">
                          <a:solidFill>
                            <a:srgbClr val="F6F2EA"/>
                          </a:solidFill>
                          <a:latin typeface="Calibri" pitchFamily="34" charset="0"/>
                          <a:ea typeface="Calibri" pitchFamily="34" charset="-122"/>
                          <a:cs typeface="Calibri" pitchFamily="34" charset="-120"/>
                        </a:rPr>
                        <a:t>Incentive</a:t>
                      </a:r>
                      <a:endParaRPr lang="en-US" sz="1100" dirty="0">
                        <a:latin typeface="Calibri" charset="0"/>
                        <a:ea typeface="Calibri" charset="0"/>
                        <a:cs typeface="Calibri" charset="0"/>
                      </a:endParaRPr>
                    </a:p>
                  </a:txBody>
                  <a:tcPr marL="54864" marR="54864" marT="54864" marB="54864" anchor="ctr">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23336B"/>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FedAvg (McMahan 2017)</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Secure Agg. (Bonawitz 2017)</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FLTrust (Cao 2021)</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BlockFL (Kim 2020)</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Kang et al. 2019</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DeepChain (Weng 2021)</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Lu et al. 2020</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BF9F4"/>
                    </a:solidFill>
                  </a:tcPr>
                </a:tc>
              </a:tr>
              <a:tr h="310896">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BFLC (Li 2021)</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FFFFF"/>
                    </a:solidFill>
                  </a:tcPr>
                </a:tc>
              </a:tr>
              <a:tr h="310896">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Sangam (ours)</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lnL w="6350" cap="flat" cmpd="sng" algn="ctr">
                      <a:solidFill>
                        <a:srgbClr val="E2DCD0"/>
                      </a:solidFill>
                      <a:prstDash val="solid"/>
                      <a:round/>
                      <a:headEnd type="none" w="med" len="med"/>
                      <a:tailEnd type="none" w="med" len="med"/>
                    </a:lnL>
                    <a:lnR w="6350" cap="flat" cmpd="sng" algn="ctr">
                      <a:solidFill>
                        <a:srgbClr val="E2DCD0"/>
                      </a:solidFill>
                      <a:prstDash val="solid"/>
                      <a:round/>
                      <a:headEnd type="none" w="med" len="med"/>
                      <a:tailEnd type="none" w="med" len="med"/>
                    </a:lnR>
                    <a:lnT w="6350" cap="flat" cmpd="sng" algn="ctr">
                      <a:solidFill>
                        <a:srgbClr val="E2DCD0"/>
                      </a:solidFill>
                      <a:prstDash val="solid"/>
                      <a:round/>
                      <a:headEnd type="none" w="med" len="med"/>
                      <a:tailEnd type="none" w="med" len="med"/>
                    </a:lnT>
                    <a:lnB w="6350" cap="flat" cmpd="sng" algn="ctr">
                      <a:solidFill>
                        <a:srgbClr val="E2DCD0"/>
                      </a:solidFill>
                      <a:prstDash val="solid"/>
                      <a:round/>
                      <a:headEnd type="none" w="med" len="med"/>
                      <a:tailEnd type="none" w="med" len="med"/>
                    </a:lnB>
                    <a:solidFill>
                      <a:srgbClr val="F0DFC0"/>
                    </a:solidFill>
                  </a:tcPr>
                </a:tc>
              </a:tr>
            </a:tbl>
          </a:graphicData>
        </a:graphic>
      </p:graphicFrame>
      <p:sp>
        <p:nvSpPr>
          <p:cNvPr id="4" name="Text 1"/>
          <p:cNvSpPr txBox="1"/>
          <p:nvPr/>
        </p:nvSpPr>
        <p:spPr>
          <a:xfrm>
            <a:off x="457200" y="4343400"/>
            <a:ext cx="5486400" cy="228600"/>
          </a:xfrm>
          <a:prstGeom prst="rect">
            <a:avLst/>
          </a:prstGeom>
          <a:noFill/>
          <a:ln/>
        </p:spPr>
        <p:txBody>
          <a:bodyPr wrap="square" lIns="0" tIns="0" rIns="0" bIns="0" rtlCol="0" anchor="t"/>
          <a:lstStyle/>
          <a:p>
            <a:pPr indent="0" marL="0">
              <a:buNone/>
            </a:pPr>
            <a:r>
              <a:rPr lang="en-US" sz="1000" dirty="0">
                <a:solidFill>
                  <a:schemeClr val="accent6"/>
                </a:solidFill>
              </a:rPr>
              <a:t>●  supported     ○  partial     –  not addressed</a:t>
            </a:r>
            <a:endParaRPr lang="en-US" sz="1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Research gap</a:t>
            </a:r>
            <a:endParaRPr lang="en-US" sz="2800" dirty="0"/>
          </a:p>
        </p:txBody>
      </p:sp>
      <p:sp>
        <p:nvSpPr>
          <p:cNvPr id="3" name="Text 1"/>
          <p:cNvSpPr txBox="1"/>
          <p:nvPr/>
        </p:nvSpPr>
        <p:spPr>
          <a:xfrm>
            <a:off x="457200" y="1097280"/>
            <a:ext cx="8229600"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No single framework combines all four, and few are evaluated together on clinical data.</a:t>
            </a:r>
            <a:endParaRPr lang="en-US" sz="2200" dirty="0"/>
          </a:p>
        </p:txBody>
      </p:sp>
      <p:sp>
        <p:nvSpPr>
          <p:cNvPr id="4" name="pill"/>
          <p:cNvSpPr/>
          <p:nvPr/>
        </p:nvSpPr>
        <p:spPr>
          <a:xfrm>
            <a:off x="457200" y="2148840"/>
            <a:ext cx="1892808" cy="502920"/>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457200" y="2148840"/>
            <a:ext cx="1892808" cy="502920"/>
          </a:xfrm>
          <a:prstGeom prst="rect">
            <a:avLst/>
          </a:prstGeom>
          <a:noFill/>
          <a:ln/>
        </p:spPr>
        <p:txBody>
          <a:bodyPr wrap="square" lIns="0" tIns="0" rIns="0" bIns="0" rtlCol="0" anchor="ctr"/>
          <a:lstStyle/>
          <a:p>
            <a:pPr algn="ctr" indent="0" marL="0">
              <a:buNone/>
            </a:pPr>
            <a:r>
              <a:rPr lang="en-US" sz="1200" b="1" dirty="0">
                <a:solidFill>
                  <a:srgbClr val="F6F2EA"/>
                </a:solidFill>
              </a:rPr>
              <a:t>Decentralised coordination</a:t>
            </a:r>
            <a:endParaRPr lang="en-US" sz="1200" dirty="0"/>
          </a:p>
        </p:txBody>
      </p:sp>
      <p:sp>
        <p:nvSpPr>
          <p:cNvPr id="6" name="pill"/>
          <p:cNvSpPr/>
          <p:nvPr/>
        </p:nvSpPr>
        <p:spPr>
          <a:xfrm>
            <a:off x="2532888" y="2148840"/>
            <a:ext cx="1892808" cy="502920"/>
          </a:xfrm>
          <a:prstGeom prst="roundRect">
            <a:avLst>
              <a:gd name="adj" fmla="val 50000"/>
            </a:avLst>
          </a:prstGeom>
          <a:solidFill>
            <a:schemeClr val="accent3"/>
          </a:solidFill>
          <a:ln w="12700">
            <a:solidFill>
              <a:schemeClr val="accent3"/>
            </a:solidFill>
            <a:prstDash val="solid"/>
          </a:ln>
        </p:spPr>
      </p:sp>
      <p:sp>
        <p:nvSpPr>
          <p:cNvPr id="7" name="Text 5"/>
          <p:cNvSpPr txBox="1"/>
          <p:nvPr/>
        </p:nvSpPr>
        <p:spPr>
          <a:xfrm>
            <a:off x="2532888" y="2148840"/>
            <a:ext cx="1892808" cy="502920"/>
          </a:xfrm>
          <a:prstGeom prst="rect">
            <a:avLst/>
          </a:prstGeom>
          <a:noFill/>
          <a:ln/>
        </p:spPr>
        <p:txBody>
          <a:bodyPr wrap="square" lIns="0" tIns="0" rIns="0" bIns="0" rtlCol="0" anchor="ctr"/>
          <a:lstStyle/>
          <a:p>
            <a:pPr algn="ctr" indent="0" marL="0">
              <a:buNone/>
            </a:pPr>
            <a:r>
              <a:rPr lang="en-US" sz="1200" b="1" dirty="0">
                <a:solidFill>
                  <a:srgbClr val="FFFFFF"/>
                </a:solidFill>
              </a:rPr>
              <a:t>Layered update privacy</a:t>
            </a:r>
            <a:endParaRPr lang="en-US" sz="1200" dirty="0"/>
          </a:p>
        </p:txBody>
      </p:sp>
      <p:sp>
        <p:nvSpPr>
          <p:cNvPr id="8" name="pill"/>
          <p:cNvSpPr/>
          <p:nvPr/>
        </p:nvSpPr>
        <p:spPr>
          <a:xfrm>
            <a:off x="4608576" y="2148840"/>
            <a:ext cx="1892808" cy="502920"/>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4608576" y="2148840"/>
            <a:ext cx="1892808" cy="502920"/>
          </a:xfrm>
          <a:prstGeom prst="rect">
            <a:avLst/>
          </a:prstGeom>
          <a:noFill/>
          <a:ln/>
        </p:spPr>
        <p:txBody>
          <a:bodyPr wrap="square" lIns="0" tIns="0" rIns="0" bIns="0" rtlCol="0" anchor="ctr"/>
          <a:lstStyle/>
          <a:p>
            <a:pPr algn="ctr" indent="0" marL="0">
              <a:buNone/>
            </a:pPr>
            <a:r>
              <a:rPr lang="en-US" sz="1200" b="1" dirty="0">
                <a:solidFill>
                  <a:srgbClr val="1A1A1A"/>
                </a:solidFill>
              </a:rPr>
              <a:t>Robust contribution scoring</a:t>
            </a:r>
            <a:endParaRPr lang="en-US" sz="1200" dirty="0"/>
          </a:p>
        </p:txBody>
      </p:sp>
      <p:sp>
        <p:nvSpPr>
          <p:cNvPr id="10" name="pill"/>
          <p:cNvSpPr/>
          <p:nvPr/>
        </p:nvSpPr>
        <p:spPr>
          <a:xfrm>
            <a:off x="6684264" y="2148840"/>
            <a:ext cx="1892808" cy="502920"/>
          </a:xfrm>
          <a:prstGeom prst="roundRect">
            <a:avLst>
              <a:gd name="adj" fmla="val 50000"/>
            </a:avLst>
          </a:prstGeom>
          <a:solidFill>
            <a:schemeClr val="accent5"/>
          </a:solidFill>
          <a:ln w="12700">
            <a:solidFill>
              <a:schemeClr val="accent5"/>
            </a:solidFill>
            <a:prstDash val="solid"/>
          </a:ln>
        </p:spPr>
      </p:sp>
      <p:sp>
        <p:nvSpPr>
          <p:cNvPr id="11" name="Text 9"/>
          <p:cNvSpPr txBox="1"/>
          <p:nvPr/>
        </p:nvSpPr>
        <p:spPr>
          <a:xfrm>
            <a:off x="6684264" y="2148840"/>
            <a:ext cx="1892808" cy="502920"/>
          </a:xfrm>
          <a:prstGeom prst="rect">
            <a:avLst/>
          </a:prstGeom>
          <a:noFill/>
          <a:ln/>
        </p:spPr>
        <p:txBody>
          <a:bodyPr wrap="square" lIns="0" tIns="0" rIns="0" bIns="0" rtlCol="0" anchor="ctr"/>
          <a:lstStyle/>
          <a:p>
            <a:pPr algn="ctr" indent="0" marL="0">
              <a:buNone/>
            </a:pPr>
            <a:r>
              <a:rPr lang="en-US" sz="1200" b="1" dirty="0">
                <a:solidFill>
                  <a:srgbClr val="FFFFFF"/>
                </a:solidFill>
              </a:rPr>
              <a:t>Transparent incentives</a:t>
            </a:r>
            <a:endParaRPr lang="en-US" sz="1200" dirty="0"/>
          </a:p>
        </p:txBody>
      </p:sp>
      <p:sp>
        <p:nvSpPr>
          <p:cNvPr id="12" name="gap-answer-shadow"/>
          <p:cNvSpPr/>
          <p:nvPr/>
        </p:nvSpPr>
        <p:spPr>
          <a:xfrm>
            <a:off x="2340864" y="3163824"/>
            <a:ext cx="4572000" cy="1005840"/>
          </a:xfrm>
          <a:prstGeom prst="rect">
            <a:avLst/>
          </a:prstGeom>
          <a:solidFill>
            <a:schemeClr val="tx1"/>
          </a:solidFill>
          <a:ln w="12700">
            <a:solidFill>
              <a:schemeClr val="tx1"/>
            </a:solidFill>
            <a:prstDash val="solid"/>
          </a:ln>
        </p:spPr>
      </p:sp>
      <p:sp>
        <p:nvSpPr>
          <p:cNvPr id="13" name="gap-answer"/>
          <p:cNvSpPr/>
          <p:nvPr/>
        </p:nvSpPr>
        <p:spPr>
          <a:xfrm>
            <a:off x="2286000" y="3108960"/>
            <a:ext cx="4572000" cy="1005840"/>
          </a:xfrm>
          <a:prstGeom prst="rect">
            <a:avLst/>
          </a:prstGeom>
          <a:solidFill>
            <a:schemeClr val="bg1"/>
          </a:solidFill>
          <a:ln w="15875">
            <a:solidFill>
              <a:schemeClr val="tx1"/>
            </a:solidFill>
            <a:prstDash val="solid"/>
          </a:ln>
        </p:spPr>
      </p:sp>
      <p:sp>
        <p:nvSpPr>
          <p:cNvPr id="14" name="Text 12"/>
          <p:cNvSpPr txBox="1"/>
          <p:nvPr/>
        </p:nvSpPr>
        <p:spPr>
          <a:xfrm>
            <a:off x="2514600" y="3246120"/>
            <a:ext cx="4114800" cy="73152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Sangam = </a:t>
            </a:r>
            <a:pPr indent="0" marL="0">
              <a:buNone/>
            </a:pPr>
            <a:r>
              <a:rPr lang="en-US" sz="1500" dirty="0">
                <a:solidFill>
                  <a:schemeClr val="tx1"/>
                </a:solidFill>
              </a:rPr>
              <a:t>all four in one protocol, with on-chain commitments a reviewer can verify.</a:t>
            </a:r>
            <a:endParaRPr lang="en-US" sz="15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Proposed methodology: architecture</a:t>
            </a:r>
            <a:endParaRPr lang="en-US" sz="2800" dirty="0"/>
          </a:p>
        </p:txBody>
      </p:sp>
      <p:sp>
        <p:nvSpPr>
          <p:cNvPr id="3" name="diagram-frame"/>
          <p:cNvSpPr/>
          <p:nvPr/>
        </p:nvSpPr>
        <p:spPr>
          <a:xfrm>
            <a:off x="457200" y="1051560"/>
            <a:ext cx="5577840" cy="3429000"/>
          </a:xfrm>
          <a:prstGeom prst="rect">
            <a:avLst/>
          </a:prstGeom>
          <a:solidFill>
            <a:schemeClr val="bg1"/>
          </a:solidFill>
          <a:ln w="9525">
            <a:solidFill>
              <a:srgbClr val="E2DCD0"/>
            </a:solidFill>
            <a:prstDash val="solid"/>
          </a:ln>
        </p:spPr>
      </p:sp>
      <p:pic>
        <p:nvPicPr>
          <p:cNvPr id="4" name="Image 0" descr="/home/claude/sangam/arch.png">    </p:cNvPr>
          <p:cNvPicPr>
            <a:picLocks noChangeAspect="1"/>
          </p:cNvPicPr>
          <p:nvPr/>
        </p:nvPicPr>
        <p:blipFill>
          <a:blip r:embed="rId1"/>
          <a:stretch>
            <a:fillRect/>
          </a:stretch>
        </p:blipFill>
        <p:spPr>
          <a:xfrm>
            <a:off x="566928" y="1207008"/>
            <a:ext cx="5358384" cy="3031660"/>
          </a:xfrm>
          <a:prstGeom prst="rect">
            <a:avLst/>
          </a:prstGeom>
        </p:spPr>
      </p:pic>
      <p:sp>
        <p:nvSpPr>
          <p:cNvPr id="5" name="Text 2"/>
          <p:cNvSpPr txBox="1"/>
          <p:nvPr/>
        </p:nvSpPr>
        <p:spPr>
          <a:xfrm>
            <a:off x="6309360" y="1143000"/>
            <a:ext cx="2377440" cy="274320"/>
          </a:xfrm>
          <a:prstGeom prst="rect">
            <a:avLst/>
          </a:prstGeom>
          <a:noFill/>
          <a:ln/>
        </p:spPr>
        <p:txBody>
          <a:bodyPr wrap="square" lIns="0" tIns="0" rIns="0" bIns="0" rtlCol="0" anchor="t"/>
          <a:lstStyle/>
          <a:p>
            <a:pPr indent="0" marL="0">
              <a:buNone/>
            </a:pPr>
            <a:r>
              <a:rPr lang="en-US" sz="1500" b="1" dirty="0">
                <a:solidFill>
                  <a:srgbClr val="C8963E"/>
                </a:solidFill>
              </a:rPr>
              <a:t>Hospitals</a:t>
            </a:r>
            <a:endParaRPr lang="en-US" sz="1500" dirty="0"/>
          </a:p>
        </p:txBody>
      </p:sp>
      <p:sp>
        <p:nvSpPr>
          <p:cNvPr id="6" name="Text 3"/>
          <p:cNvSpPr txBox="1"/>
          <p:nvPr/>
        </p:nvSpPr>
        <p:spPr>
          <a:xfrm>
            <a:off x="6309360" y="1444752"/>
            <a:ext cx="2377440" cy="640080"/>
          </a:xfrm>
          <a:prstGeom prst="rect">
            <a:avLst/>
          </a:prstGeom>
          <a:noFill/>
          <a:ln/>
        </p:spPr>
        <p:txBody>
          <a:bodyPr wrap="square" lIns="0" tIns="0" rIns="0" bIns="0" rtlCol="0" anchor="t"/>
          <a:lstStyle/>
          <a:p>
            <a:pPr indent="0" marL="0">
              <a:buNone/>
            </a:pPr>
            <a:r>
              <a:rPr lang="en-US" sz="1250" dirty="0">
                <a:solidFill>
                  <a:schemeClr val="tx1"/>
                </a:solidFill>
              </a:rPr>
              <a:t>train locally with DP-SGD; data never leaves</a:t>
            </a:r>
            <a:endParaRPr lang="en-US" sz="1250" dirty="0"/>
          </a:p>
        </p:txBody>
      </p:sp>
      <p:sp>
        <p:nvSpPr>
          <p:cNvPr id="7" name="Text 4"/>
          <p:cNvSpPr txBox="1"/>
          <p:nvPr/>
        </p:nvSpPr>
        <p:spPr>
          <a:xfrm>
            <a:off x="6309360" y="2240280"/>
            <a:ext cx="2377440" cy="274320"/>
          </a:xfrm>
          <a:prstGeom prst="rect">
            <a:avLst/>
          </a:prstGeom>
          <a:noFill/>
          <a:ln/>
        </p:spPr>
        <p:txBody>
          <a:bodyPr wrap="square" lIns="0" tIns="0" rIns="0" bIns="0" rtlCol="0" anchor="t"/>
          <a:lstStyle/>
          <a:p>
            <a:pPr indent="0" marL="0">
              <a:buNone/>
            </a:pPr>
            <a:r>
              <a:rPr lang="en-US" sz="1500" b="1" dirty="0">
                <a:solidFill>
                  <a:srgbClr val="23336B"/>
                </a:solidFill>
              </a:rPr>
              <a:t>Aggregator</a:t>
            </a:r>
            <a:endParaRPr lang="en-US" sz="1500" dirty="0"/>
          </a:p>
        </p:txBody>
      </p:sp>
      <p:sp>
        <p:nvSpPr>
          <p:cNvPr id="8" name="Text 5"/>
          <p:cNvSpPr txBox="1"/>
          <p:nvPr/>
        </p:nvSpPr>
        <p:spPr>
          <a:xfrm>
            <a:off x="6309360" y="2542032"/>
            <a:ext cx="2377440" cy="640080"/>
          </a:xfrm>
          <a:prstGeom prst="rect">
            <a:avLst/>
          </a:prstGeom>
          <a:noFill/>
          <a:ln/>
        </p:spPr>
        <p:txBody>
          <a:bodyPr wrap="square" lIns="0" tIns="0" rIns="0" bIns="0" rtlCol="0" anchor="t"/>
          <a:lstStyle/>
          <a:p>
            <a:pPr indent="0" marL="0">
              <a:buNone/>
            </a:pPr>
            <a:r>
              <a:rPr lang="en-US" sz="1250" dirty="0">
                <a:solidFill>
                  <a:schemeClr val="tx1"/>
                </a:solidFill>
              </a:rPr>
              <a:t>sees only the masked sum</a:t>
            </a:r>
            <a:endParaRPr lang="en-US" sz="1250" dirty="0"/>
          </a:p>
        </p:txBody>
      </p:sp>
      <p:sp>
        <p:nvSpPr>
          <p:cNvPr id="9" name="Text 6"/>
          <p:cNvSpPr txBox="1"/>
          <p:nvPr/>
        </p:nvSpPr>
        <p:spPr>
          <a:xfrm>
            <a:off x="6309360" y="3337560"/>
            <a:ext cx="2377440" cy="274320"/>
          </a:xfrm>
          <a:prstGeom prst="rect">
            <a:avLst/>
          </a:prstGeom>
          <a:noFill/>
          <a:ln/>
        </p:spPr>
        <p:txBody>
          <a:bodyPr wrap="square" lIns="0" tIns="0" rIns="0" bIns="0" rtlCol="0" anchor="t"/>
          <a:lstStyle/>
          <a:p>
            <a:pPr indent="0" marL="0">
              <a:buNone/>
            </a:pPr>
            <a:r>
              <a:rPr lang="en-US" sz="1500" b="1" dirty="0">
                <a:solidFill>
                  <a:srgbClr val="23336B"/>
                </a:solidFill>
              </a:rPr>
              <a:t>Blockchain</a:t>
            </a:r>
            <a:endParaRPr lang="en-US" sz="1500" dirty="0"/>
          </a:p>
        </p:txBody>
      </p:sp>
      <p:sp>
        <p:nvSpPr>
          <p:cNvPr id="10" name="Text 7"/>
          <p:cNvSpPr txBox="1"/>
          <p:nvPr/>
        </p:nvSpPr>
        <p:spPr>
          <a:xfrm>
            <a:off x="6309360" y="3639312"/>
            <a:ext cx="2377440" cy="640080"/>
          </a:xfrm>
          <a:prstGeom prst="rect">
            <a:avLst/>
          </a:prstGeom>
          <a:noFill/>
          <a:ln/>
        </p:spPr>
        <p:txBody>
          <a:bodyPr wrap="square" lIns="0" tIns="0" rIns="0" bIns="0" rtlCol="0" anchor="t"/>
          <a:lstStyle/>
          <a:p>
            <a:pPr indent="0" marL="0">
              <a:buNone/>
            </a:pPr>
            <a:r>
              <a:rPr lang="en-US" sz="1250" dirty="0">
                <a:solidFill>
                  <a:schemeClr val="tx1"/>
                </a:solidFill>
              </a:rPr>
              <a:t>stores hashes, scores, reputation; weights live on IPFS</a:t>
            </a:r>
            <a:endParaRPr lang="en-US" sz="12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One training round, step by step</a:t>
            </a:r>
            <a:endParaRPr lang="en-US" sz="2800" dirty="0"/>
          </a:p>
        </p:txBody>
      </p:sp>
      <p:sp>
        <p:nvSpPr>
          <p:cNvPr id="3" name="step-dot"/>
          <p:cNvSpPr/>
          <p:nvPr/>
        </p:nvSpPr>
        <p:spPr>
          <a:xfrm>
            <a:off x="795528" y="1280160"/>
            <a:ext cx="548640" cy="548640"/>
          </a:xfrm>
          <a:prstGeom prst="ellipse">
            <a:avLst/>
          </a:prstGeom>
          <a:solidFill>
            <a:srgbClr val="23336B"/>
          </a:solidFill>
          <a:ln w="12700">
            <a:solidFill>
              <a:srgbClr val="1A1A1A"/>
            </a:solidFill>
            <a:prstDash val="solid"/>
          </a:ln>
        </p:spPr>
      </p:sp>
      <p:sp>
        <p:nvSpPr>
          <p:cNvPr id="4" name="Text 2"/>
          <p:cNvSpPr txBox="1"/>
          <p:nvPr/>
        </p:nvSpPr>
        <p:spPr>
          <a:xfrm>
            <a:off x="795528" y="1280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arrow"/>
          <p:cNvSpPr/>
          <p:nvPr/>
        </p:nvSpPr>
        <p:spPr>
          <a:xfrm>
            <a:off x="1399032" y="1554480"/>
            <a:ext cx="804672" cy="0"/>
          </a:xfrm>
          <a:prstGeom prst="line">
            <a:avLst/>
          </a:prstGeom>
          <a:noFill/>
          <a:ln w="15875">
            <a:solidFill>
              <a:srgbClr val="9A958C"/>
            </a:solidFill>
            <a:prstDash val="solid"/>
            <a:tailEnd type="triangle"/>
          </a:ln>
        </p:spPr>
      </p:sp>
      <p:sp>
        <p:nvSpPr>
          <p:cNvPr id="6" name="Text 4"/>
          <p:cNvSpPr txBox="1"/>
          <p:nvPr/>
        </p:nvSpPr>
        <p:spPr>
          <a:xfrm>
            <a:off x="457200" y="2011680"/>
            <a:ext cx="1234440" cy="320040"/>
          </a:xfrm>
          <a:prstGeom prst="rect">
            <a:avLst/>
          </a:prstGeom>
          <a:noFill/>
          <a:ln/>
        </p:spPr>
        <p:txBody>
          <a:bodyPr wrap="square" lIns="0" tIns="0" rIns="0" bIns="0" rtlCol="0" anchor="t"/>
          <a:lstStyle/>
          <a:p>
            <a:pPr algn="ctr" indent="0" marL="0">
              <a:buNone/>
            </a:pPr>
            <a:r>
              <a:rPr lang="en-US" sz="1500" b="1" dirty="0">
                <a:solidFill>
                  <a:schemeClr val="tx1"/>
                </a:solidFill>
              </a:rPr>
              <a:t>Open</a:t>
            </a:r>
            <a:endParaRPr lang="en-US" sz="1500" dirty="0"/>
          </a:p>
        </p:txBody>
      </p:sp>
      <p:sp>
        <p:nvSpPr>
          <p:cNvPr id="7" name="Text 5"/>
          <p:cNvSpPr txBox="1"/>
          <p:nvPr/>
        </p:nvSpPr>
        <p:spPr>
          <a:xfrm>
            <a:off x="457200" y="2377440"/>
            <a:ext cx="1234440" cy="914400"/>
          </a:xfrm>
          <a:prstGeom prst="rect">
            <a:avLst/>
          </a:prstGeom>
          <a:noFill/>
          <a:ln/>
        </p:spPr>
        <p:txBody>
          <a:bodyPr wrap="square" lIns="0" tIns="0" rIns="0" bIns="0" rtlCol="0" anchor="t"/>
          <a:lstStyle/>
          <a:p>
            <a:pPr algn="ctr" indent="0" marL="0">
              <a:buNone/>
            </a:pPr>
            <a:r>
              <a:rPr lang="en-US" sz="1150" dirty="0">
                <a:solidFill>
                  <a:schemeClr val="accent6"/>
                </a:solidFill>
              </a:rPr>
              <a:t>Contract opens round t, publishes global model hash</a:t>
            </a:r>
            <a:endParaRPr lang="en-US" sz="1150" dirty="0"/>
          </a:p>
        </p:txBody>
      </p:sp>
      <p:sp>
        <p:nvSpPr>
          <p:cNvPr id="8" name="step-dot"/>
          <p:cNvSpPr/>
          <p:nvPr/>
        </p:nvSpPr>
        <p:spPr>
          <a:xfrm>
            <a:off x="2194560" y="1280160"/>
            <a:ext cx="548640" cy="548640"/>
          </a:xfrm>
          <a:prstGeom prst="ellipse">
            <a:avLst/>
          </a:prstGeom>
          <a:solidFill>
            <a:srgbClr val="C8963E"/>
          </a:solidFill>
          <a:ln w="12700">
            <a:solidFill>
              <a:srgbClr val="1A1A1A"/>
            </a:solidFill>
            <a:prstDash val="solid"/>
          </a:ln>
        </p:spPr>
      </p:sp>
      <p:sp>
        <p:nvSpPr>
          <p:cNvPr id="9" name="Text 7"/>
          <p:cNvSpPr txBox="1"/>
          <p:nvPr/>
        </p:nvSpPr>
        <p:spPr>
          <a:xfrm>
            <a:off x="2194560" y="12801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step-arrow"/>
          <p:cNvSpPr/>
          <p:nvPr/>
        </p:nvSpPr>
        <p:spPr>
          <a:xfrm>
            <a:off x="2798064" y="1554480"/>
            <a:ext cx="804672" cy="0"/>
          </a:xfrm>
          <a:prstGeom prst="line">
            <a:avLst/>
          </a:prstGeom>
          <a:noFill/>
          <a:ln w="15875">
            <a:solidFill>
              <a:srgbClr val="9A958C"/>
            </a:solidFill>
            <a:prstDash val="solid"/>
            <a:tailEnd type="triangle"/>
          </a:ln>
        </p:spPr>
      </p:sp>
      <p:sp>
        <p:nvSpPr>
          <p:cNvPr id="11" name="Text 9"/>
          <p:cNvSpPr txBox="1"/>
          <p:nvPr/>
        </p:nvSpPr>
        <p:spPr>
          <a:xfrm>
            <a:off x="1856232" y="2011680"/>
            <a:ext cx="1234440" cy="320040"/>
          </a:xfrm>
          <a:prstGeom prst="rect">
            <a:avLst/>
          </a:prstGeom>
          <a:noFill/>
          <a:ln/>
        </p:spPr>
        <p:txBody>
          <a:bodyPr wrap="square" lIns="0" tIns="0" rIns="0" bIns="0" rtlCol="0" anchor="t"/>
          <a:lstStyle/>
          <a:p>
            <a:pPr algn="ctr" indent="0" marL="0">
              <a:buNone/>
            </a:pPr>
            <a:r>
              <a:rPr lang="en-US" sz="1500" b="1" dirty="0">
                <a:solidFill>
                  <a:schemeClr val="tx1"/>
                </a:solidFill>
              </a:rPr>
              <a:t>Train</a:t>
            </a:r>
            <a:endParaRPr lang="en-US" sz="1500" dirty="0"/>
          </a:p>
        </p:txBody>
      </p:sp>
      <p:sp>
        <p:nvSpPr>
          <p:cNvPr id="12" name="Text 10"/>
          <p:cNvSpPr txBox="1"/>
          <p:nvPr/>
        </p:nvSpPr>
        <p:spPr>
          <a:xfrm>
            <a:off x="1856232" y="2377440"/>
            <a:ext cx="1234440" cy="914400"/>
          </a:xfrm>
          <a:prstGeom prst="rect">
            <a:avLst/>
          </a:prstGeom>
          <a:noFill/>
          <a:ln/>
        </p:spPr>
        <p:txBody>
          <a:bodyPr wrap="square" lIns="0" tIns="0" rIns="0" bIns="0" rtlCol="0" anchor="t"/>
          <a:lstStyle/>
          <a:p>
            <a:pPr algn="ctr" indent="0" marL="0">
              <a:buNone/>
            </a:pPr>
            <a:r>
              <a:rPr lang="en-US" sz="1150" dirty="0">
                <a:solidFill>
                  <a:schemeClr val="accent6"/>
                </a:solidFill>
              </a:rPr>
              <a:t>Each hospital runs DP-SGD on its own data</a:t>
            </a:r>
            <a:endParaRPr lang="en-US" sz="1150" dirty="0"/>
          </a:p>
        </p:txBody>
      </p:sp>
      <p:sp>
        <p:nvSpPr>
          <p:cNvPr id="13" name="step-dot"/>
          <p:cNvSpPr/>
          <p:nvPr/>
        </p:nvSpPr>
        <p:spPr>
          <a:xfrm>
            <a:off x="3593592" y="1280160"/>
            <a:ext cx="548640" cy="548640"/>
          </a:xfrm>
          <a:prstGeom prst="ellipse">
            <a:avLst/>
          </a:prstGeom>
          <a:solidFill>
            <a:srgbClr val="23336B"/>
          </a:solidFill>
          <a:ln w="12700">
            <a:solidFill>
              <a:srgbClr val="1A1A1A"/>
            </a:solidFill>
            <a:prstDash val="solid"/>
          </a:ln>
        </p:spPr>
      </p:sp>
      <p:sp>
        <p:nvSpPr>
          <p:cNvPr id="14" name="Text 12"/>
          <p:cNvSpPr txBox="1"/>
          <p:nvPr/>
        </p:nvSpPr>
        <p:spPr>
          <a:xfrm>
            <a:off x="3593592" y="1280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arrow"/>
          <p:cNvSpPr/>
          <p:nvPr/>
        </p:nvSpPr>
        <p:spPr>
          <a:xfrm>
            <a:off x="4197096" y="1554480"/>
            <a:ext cx="804672" cy="0"/>
          </a:xfrm>
          <a:prstGeom prst="line">
            <a:avLst/>
          </a:prstGeom>
          <a:noFill/>
          <a:ln w="15875">
            <a:solidFill>
              <a:srgbClr val="9A958C"/>
            </a:solidFill>
            <a:prstDash val="solid"/>
            <a:tailEnd type="triangle"/>
          </a:ln>
        </p:spPr>
      </p:sp>
      <p:sp>
        <p:nvSpPr>
          <p:cNvPr id="16" name="Text 14"/>
          <p:cNvSpPr txBox="1"/>
          <p:nvPr/>
        </p:nvSpPr>
        <p:spPr>
          <a:xfrm>
            <a:off x="3255264" y="2011680"/>
            <a:ext cx="1234440" cy="320040"/>
          </a:xfrm>
          <a:prstGeom prst="rect">
            <a:avLst/>
          </a:prstGeom>
          <a:noFill/>
          <a:ln/>
        </p:spPr>
        <p:txBody>
          <a:bodyPr wrap="square" lIns="0" tIns="0" rIns="0" bIns="0" rtlCol="0" anchor="t"/>
          <a:lstStyle/>
          <a:p>
            <a:pPr algn="ctr" indent="0" marL="0">
              <a:buNone/>
            </a:pPr>
            <a:r>
              <a:rPr lang="en-US" sz="1500" b="1" dirty="0">
                <a:solidFill>
                  <a:schemeClr val="tx1"/>
                </a:solidFill>
              </a:rPr>
              <a:t>Commit</a:t>
            </a:r>
            <a:endParaRPr lang="en-US" sz="1500" dirty="0"/>
          </a:p>
        </p:txBody>
      </p:sp>
      <p:sp>
        <p:nvSpPr>
          <p:cNvPr id="17" name="Text 15"/>
          <p:cNvSpPr txBox="1"/>
          <p:nvPr/>
        </p:nvSpPr>
        <p:spPr>
          <a:xfrm>
            <a:off x="3255264" y="2377440"/>
            <a:ext cx="1234440" cy="914400"/>
          </a:xfrm>
          <a:prstGeom prst="rect">
            <a:avLst/>
          </a:prstGeom>
          <a:noFill/>
          <a:ln/>
        </p:spPr>
        <p:txBody>
          <a:bodyPr wrap="square" lIns="0" tIns="0" rIns="0" bIns="0" rtlCol="0" anchor="t"/>
          <a:lstStyle/>
          <a:p>
            <a:pPr algn="ctr" indent="0" marL="0">
              <a:buNone/>
            </a:pPr>
            <a:r>
              <a:rPr lang="en-US" sz="1150" dirty="0">
                <a:solidFill>
                  <a:schemeClr val="accent6"/>
                </a:solidFill>
              </a:rPr>
              <a:t>Hospital posts keccak256(update) on chain</a:t>
            </a:r>
            <a:endParaRPr lang="en-US" sz="1150" dirty="0"/>
          </a:p>
        </p:txBody>
      </p:sp>
      <p:sp>
        <p:nvSpPr>
          <p:cNvPr id="18" name="step-dot"/>
          <p:cNvSpPr/>
          <p:nvPr/>
        </p:nvSpPr>
        <p:spPr>
          <a:xfrm>
            <a:off x="4992624" y="1280160"/>
            <a:ext cx="548640" cy="548640"/>
          </a:xfrm>
          <a:prstGeom prst="ellipse">
            <a:avLst/>
          </a:prstGeom>
          <a:solidFill>
            <a:srgbClr val="23336B"/>
          </a:solidFill>
          <a:ln w="12700">
            <a:solidFill>
              <a:srgbClr val="1A1A1A"/>
            </a:solidFill>
            <a:prstDash val="solid"/>
          </a:ln>
        </p:spPr>
      </p:sp>
      <p:sp>
        <p:nvSpPr>
          <p:cNvPr id="19" name="Text 17"/>
          <p:cNvSpPr txBox="1"/>
          <p:nvPr/>
        </p:nvSpPr>
        <p:spPr>
          <a:xfrm>
            <a:off x="4992624" y="1280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step-arrow"/>
          <p:cNvSpPr/>
          <p:nvPr/>
        </p:nvSpPr>
        <p:spPr>
          <a:xfrm>
            <a:off x="5596128" y="1554480"/>
            <a:ext cx="804672" cy="0"/>
          </a:xfrm>
          <a:prstGeom prst="line">
            <a:avLst/>
          </a:prstGeom>
          <a:noFill/>
          <a:ln w="15875">
            <a:solidFill>
              <a:srgbClr val="9A958C"/>
            </a:solidFill>
            <a:prstDash val="solid"/>
            <a:tailEnd type="triangle"/>
          </a:ln>
        </p:spPr>
      </p:sp>
      <p:sp>
        <p:nvSpPr>
          <p:cNvPr id="21" name="Text 19"/>
          <p:cNvSpPr txBox="1"/>
          <p:nvPr/>
        </p:nvSpPr>
        <p:spPr>
          <a:xfrm>
            <a:off x="4654296" y="2011680"/>
            <a:ext cx="1234440" cy="320040"/>
          </a:xfrm>
          <a:prstGeom prst="rect">
            <a:avLst/>
          </a:prstGeom>
          <a:noFill/>
          <a:ln/>
        </p:spPr>
        <p:txBody>
          <a:bodyPr wrap="square" lIns="0" tIns="0" rIns="0" bIns="0" rtlCol="0" anchor="t"/>
          <a:lstStyle/>
          <a:p>
            <a:pPr algn="ctr" indent="0" marL="0">
              <a:buNone/>
            </a:pPr>
            <a:r>
              <a:rPr lang="en-US" sz="1500" b="1" dirty="0">
                <a:solidFill>
                  <a:schemeClr val="tx1"/>
                </a:solidFill>
              </a:rPr>
              <a:t>Score</a:t>
            </a:r>
            <a:endParaRPr lang="en-US" sz="1500" dirty="0"/>
          </a:p>
        </p:txBody>
      </p:sp>
      <p:sp>
        <p:nvSpPr>
          <p:cNvPr id="22" name="Text 20"/>
          <p:cNvSpPr txBox="1"/>
          <p:nvPr/>
        </p:nvSpPr>
        <p:spPr>
          <a:xfrm>
            <a:off x="4654296" y="2377440"/>
            <a:ext cx="1234440" cy="914400"/>
          </a:xfrm>
          <a:prstGeom prst="rect">
            <a:avLst/>
          </a:prstGeom>
          <a:noFill/>
          <a:ln/>
        </p:spPr>
        <p:txBody>
          <a:bodyPr wrap="square" lIns="0" tIns="0" rIns="0" bIns="0" rtlCol="0" anchor="t"/>
          <a:lstStyle/>
          <a:p>
            <a:pPr algn="ctr" indent="0" marL="0">
              <a:buNone/>
            </a:pPr>
            <a:r>
              <a:rPr lang="en-US" sz="1150" dirty="0">
                <a:solidFill>
                  <a:schemeClr val="accent6"/>
                </a:solidFill>
              </a:rPr>
              <a:t>Validators score updates; reputation updated on chain</a:t>
            </a:r>
            <a:endParaRPr lang="en-US" sz="1150" dirty="0"/>
          </a:p>
        </p:txBody>
      </p:sp>
      <p:sp>
        <p:nvSpPr>
          <p:cNvPr id="23" name="step-dot"/>
          <p:cNvSpPr/>
          <p:nvPr/>
        </p:nvSpPr>
        <p:spPr>
          <a:xfrm>
            <a:off x="6391656" y="1280160"/>
            <a:ext cx="548640" cy="548640"/>
          </a:xfrm>
          <a:prstGeom prst="ellipse">
            <a:avLst/>
          </a:prstGeom>
          <a:solidFill>
            <a:srgbClr val="8A7CC2"/>
          </a:solidFill>
          <a:ln w="12700">
            <a:solidFill>
              <a:srgbClr val="1A1A1A"/>
            </a:solidFill>
            <a:prstDash val="solid"/>
          </a:ln>
        </p:spPr>
      </p:sp>
      <p:sp>
        <p:nvSpPr>
          <p:cNvPr id="24" name="Text 22"/>
          <p:cNvSpPr txBox="1"/>
          <p:nvPr/>
        </p:nvSpPr>
        <p:spPr>
          <a:xfrm>
            <a:off x="6391656" y="1280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step-arrow"/>
          <p:cNvSpPr/>
          <p:nvPr/>
        </p:nvSpPr>
        <p:spPr>
          <a:xfrm>
            <a:off x="6995160" y="1554480"/>
            <a:ext cx="804672" cy="0"/>
          </a:xfrm>
          <a:prstGeom prst="line">
            <a:avLst/>
          </a:prstGeom>
          <a:noFill/>
          <a:ln w="15875">
            <a:solidFill>
              <a:srgbClr val="9A958C"/>
            </a:solidFill>
            <a:prstDash val="solid"/>
            <a:tailEnd type="triangle"/>
          </a:ln>
        </p:spPr>
      </p:sp>
      <p:sp>
        <p:nvSpPr>
          <p:cNvPr id="26" name="Text 24"/>
          <p:cNvSpPr txBox="1"/>
          <p:nvPr/>
        </p:nvSpPr>
        <p:spPr>
          <a:xfrm>
            <a:off x="6053328" y="2011680"/>
            <a:ext cx="1234440" cy="320040"/>
          </a:xfrm>
          <a:prstGeom prst="rect">
            <a:avLst/>
          </a:prstGeom>
          <a:noFill/>
          <a:ln/>
        </p:spPr>
        <p:txBody>
          <a:bodyPr wrap="square" lIns="0" tIns="0" rIns="0" bIns="0" rtlCol="0" anchor="t"/>
          <a:lstStyle/>
          <a:p>
            <a:pPr algn="ctr" indent="0" marL="0">
              <a:buNone/>
            </a:pPr>
            <a:r>
              <a:rPr lang="en-US" sz="1500" b="1" dirty="0">
                <a:solidFill>
                  <a:schemeClr val="tx1"/>
                </a:solidFill>
              </a:rPr>
              <a:t>Aggregate</a:t>
            </a:r>
            <a:endParaRPr lang="en-US" sz="1500" dirty="0"/>
          </a:p>
        </p:txBody>
      </p:sp>
      <p:sp>
        <p:nvSpPr>
          <p:cNvPr id="27" name="Text 25"/>
          <p:cNvSpPr txBox="1"/>
          <p:nvPr/>
        </p:nvSpPr>
        <p:spPr>
          <a:xfrm>
            <a:off x="6053328" y="2377440"/>
            <a:ext cx="1234440" cy="914400"/>
          </a:xfrm>
          <a:prstGeom prst="rect">
            <a:avLst/>
          </a:prstGeom>
          <a:noFill/>
          <a:ln/>
        </p:spPr>
        <p:txBody>
          <a:bodyPr wrap="square" lIns="0" tIns="0" rIns="0" bIns="0" rtlCol="0" anchor="t"/>
          <a:lstStyle/>
          <a:p>
            <a:pPr algn="ctr" indent="0" marL="0">
              <a:buNone/>
            </a:pPr>
            <a:r>
              <a:rPr lang="en-US" sz="1150" dirty="0">
                <a:solidFill>
                  <a:schemeClr val="accent6"/>
                </a:solidFill>
              </a:rPr>
              <a:t>Weighted updates are masked; masks cancel in the sum</a:t>
            </a:r>
            <a:endParaRPr lang="en-US" sz="1150" dirty="0"/>
          </a:p>
        </p:txBody>
      </p:sp>
      <p:sp>
        <p:nvSpPr>
          <p:cNvPr id="28" name="step-dot"/>
          <p:cNvSpPr/>
          <p:nvPr/>
        </p:nvSpPr>
        <p:spPr>
          <a:xfrm>
            <a:off x="7790688" y="1280160"/>
            <a:ext cx="548640" cy="548640"/>
          </a:xfrm>
          <a:prstGeom prst="ellipse">
            <a:avLst/>
          </a:prstGeom>
          <a:solidFill>
            <a:srgbClr val="23336B"/>
          </a:solidFill>
          <a:ln w="12700">
            <a:solidFill>
              <a:srgbClr val="1A1A1A"/>
            </a:solidFill>
            <a:prstDash val="solid"/>
          </a:ln>
        </p:spPr>
      </p:sp>
      <p:sp>
        <p:nvSpPr>
          <p:cNvPr id="29" name="Text 27"/>
          <p:cNvSpPr txBox="1"/>
          <p:nvPr/>
        </p:nvSpPr>
        <p:spPr>
          <a:xfrm>
            <a:off x="7790688" y="1280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0" name="Text 28"/>
          <p:cNvSpPr txBox="1"/>
          <p:nvPr/>
        </p:nvSpPr>
        <p:spPr>
          <a:xfrm>
            <a:off x="7452360" y="2011680"/>
            <a:ext cx="1234440" cy="320040"/>
          </a:xfrm>
          <a:prstGeom prst="rect">
            <a:avLst/>
          </a:prstGeom>
          <a:noFill/>
          <a:ln/>
        </p:spPr>
        <p:txBody>
          <a:bodyPr wrap="square" lIns="0" tIns="0" rIns="0" bIns="0" rtlCol="0" anchor="t"/>
          <a:lstStyle/>
          <a:p>
            <a:pPr algn="ctr" indent="0" marL="0">
              <a:buNone/>
            </a:pPr>
            <a:r>
              <a:rPr lang="en-US" sz="1500" b="1" dirty="0">
                <a:solidFill>
                  <a:schemeClr val="tx1"/>
                </a:solidFill>
              </a:rPr>
              <a:t>Close</a:t>
            </a:r>
            <a:endParaRPr lang="en-US" sz="1500" dirty="0"/>
          </a:p>
        </p:txBody>
      </p:sp>
      <p:sp>
        <p:nvSpPr>
          <p:cNvPr id="31" name="Text 29"/>
          <p:cNvSpPr txBox="1"/>
          <p:nvPr/>
        </p:nvSpPr>
        <p:spPr>
          <a:xfrm>
            <a:off x="7452360" y="2377440"/>
            <a:ext cx="1234440" cy="914400"/>
          </a:xfrm>
          <a:prstGeom prst="rect">
            <a:avLst/>
          </a:prstGeom>
          <a:noFill/>
          <a:ln/>
        </p:spPr>
        <p:txBody>
          <a:bodyPr wrap="square" lIns="0" tIns="0" rIns="0" bIns="0" rtlCol="0" anchor="t"/>
          <a:lstStyle/>
          <a:p>
            <a:pPr algn="ctr" indent="0" marL="0">
              <a:buNone/>
            </a:pPr>
            <a:r>
              <a:rPr lang="en-US" sz="1150" dirty="0">
                <a:solidFill>
                  <a:schemeClr val="accent6"/>
                </a:solidFill>
              </a:rPr>
              <a:t>New model pinned to IPFS; hash and CID committed</a:t>
            </a:r>
            <a:endParaRPr lang="en-US" sz="1150" dirty="0"/>
          </a:p>
        </p:txBody>
      </p:sp>
      <p:sp>
        <p:nvSpPr>
          <p:cNvPr id="32" name="rule-card-shadow"/>
          <p:cNvSpPr/>
          <p:nvPr/>
        </p:nvSpPr>
        <p:spPr>
          <a:xfrm>
            <a:off x="512064" y="3575304"/>
            <a:ext cx="8229600" cy="777240"/>
          </a:xfrm>
          <a:prstGeom prst="rect">
            <a:avLst/>
          </a:prstGeom>
          <a:solidFill>
            <a:schemeClr val="tx1"/>
          </a:solidFill>
          <a:ln w="12700">
            <a:solidFill>
              <a:schemeClr val="tx1"/>
            </a:solidFill>
            <a:prstDash val="solid"/>
          </a:ln>
        </p:spPr>
      </p:sp>
      <p:sp>
        <p:nvSpPr>
          <p:cNvPr id="33" name="rule-card"/>
          <p:cNvSpPr/>
          <p:nvPr/>
        </p:nvSpPr>
        <p:spPr>
          <a:xfrm>
            <a:off x="457200" y="3520440"/>
            <a:ext cx="8229600" cy="777240"/>
          </a:xfrm>
          <a:prstGeom prst="rect">
            <a:avLst/>
          </a:prstGeom>
          <a:solidFill>
            <a:schemeClr val="bg1"/>
          </a:solidFill>
          <a:ln w="15875">
            <a:solidFill>
              <a:schemeClr val="tx1"/>
            </a:solidFill>
            <a:prstDash val="solid"/>
          </a:ln>
        </p:spPr>
      </p:sp>
      <p:sp>
        <p:nvSpPr>
          <p:cNvPr id="34" name="Text 32"/>
          <p:cNvSpPr txBox="1"/>
          <p:nvPr/>
        </p:nvSpPr>
        <p:spPr>
          <a:xfrm>
            <a:off x="640080" y="3611880"/>
            <a:ext cx="7863840" cy="594360"/>
          </a:xfrm>
          <a:prstGeom prst="rect">
            <a:avLst/>
          </a:prstGeom>
          <a:noFill/>
          <a:ln/>
        </p:spPr>
        <p:txBody>
          <a:bodyPr wrap="square" lIns="0" tIns="0" rIns="0" bIns="0" rtlCol="0" anchor="ctr"/>
          <a:lstStyle/>
          <a:p>
            <a:pPr indent="0" marL="0">
              <a:buNone/>
            </a:pPr>
            <a:r>
              <a:rPr lang="en-US" sz="1300" b="1" dirty="0">
                <a:solidFill>
                  <a:schemeClr val="tx1"/>
                </a:solidFill>
              </a:rPr>
              <a:t>Reputation rule:  </a:t>
            </a:r>
            <a:pPr indent="0" marL="0">
              <a:buNone/>
            </a:pPr>
            <a:r>
              <a:rPr lang="en-US" sz="1300" dirty="0">
                <a:solidFill>
                  <a:schemeClr val="tx1"/>
                </a:solidFill>
              </a:rPr>
              <a:t>one bad round halves a hospital's reputation; recovery takes several good rounds. Quick to distrust, slow to trust.</a:t>
            </a:r>
            <a:endParaRPr lang="en-US" sz="13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Work completed since the first defence</a:t>
            </a:r>
            <a:endParaRPr lang="en-US" sz="2800" dirty="0"/>
          </a:p>
        </p:txBody>
      </p:sp>
      <p:sp>
        <p:nvSpPr>
          <p:cNvPr id="3" name="Text 1"/>
          <p:cNvSpPr txBox="1"/>
          <p:nvPr/>
        </p:nvSpPr>
        <p:spPr>
          <a:xfrm>
            <a:off x="457200" y="1097280"/>
            <a:ext cx="2103120" cy="411480"/>
          </a:xfrm>
          <a:prstGeom prst="rect">
            <a:avLst/>
          </a:prstGeom>
          <a:noFill/>
          <a:ln/>
        </p:spPr>
        <p:txBody>
          <a:bodyPr wrap="square" lIns="0" tIns="0" rIns="0" bIns="0" rtlCol="0" anchor="ctr"/>
          <a:lstStyle/>
          <a:p>
            <a:pPr indent="0" marL="0">
              <a:buNone/>
            </a:pPr>
            <a:r>
              <a:rPr lang="en-US" sz="1350" b="1" dirty="0">
                <a:solidFill>
                  <a:schemeClr val="tx1"/>
                </a:solidFill>
              </a:rPr>
              <a:t>Study and design</a:t>
            </a:r>
            <a:endParaRPr lang="en-US" sz="1350" dirty="0"/>
          </a:p>
        </p:txBody>
      </p:sp>
      <p:sp>
        <p:nvSpPr>
          <p:cNvPr id="4" name="Text 2"/>
          <p:cNvSpPr txBox="1"/>
          <p:nvPr/>
        </p:nvSpPr>
        <p:spPr>
          <a:xfrm>
            <a:off x="2560320" y="1097280"/>
            <a:ext cx="2651760" cy="411480"/>
          </a:xfrm>
          <a:prstGeom prst="rect">
            <a:avLst/>
          </a:prstGeom>
          <a:noFill/>
          <a:ln/>
        </p:spPr>
        <p:txBody>
          <a:bodyPr wrap="square" lIns="0" tIns="0" rIns="0" bIns="0" rtlCol="0" anchor="ctr"/>
          <a:lstStyle/>
          <a:p>
            <a:pPr indent="0" marL="0">
              <a:buNone/>
            </a:pPr>
            <a:r>
              <a:rPr lang="en-US" sz="1150" dirty="0">
                <a:solidFill>
                  <a:schemeClr val="accent6"/>
                </a:solidFill>
              </a:rPr>
              <a:t>Architecture, threat model, protocol</a:t>
            </a:r>
            <a:endParaRPr lang="en-US" sz="1150" dirty="0"/>
          </a:p>
        </p:txBody>
      </p:sp>
      <p:sp>
        <p:nvSpPr>
          <p:cNvPr id="5" name="pill"/>
          <p:cNvSpPr/>
          <p:nvPr/>
        </p:nvSpPr>
        <p:spPr>
          <a:xfrm>
            <a:off x="5257800" y="1152144"/>
            <a:ext cx="1051560" cy="301752"/>
          </a:xfrm>
          <a:prstGeom prst="roundRect">
            <a:avLst>
              <a:gd name="adj" fmla="val 50000"/>
            </a:avLst>
          </a:prstGeom>
          <a:solidFill>
            <a:schemeClr val="accent5"/>
          </a:solidFill>
          <a:ln w="12700">
            <a:solidFill>
              <a:schemeClr val="accent5"/>
            </a:solidFill>
            <a:prstDash val="solid"/>
          </a:ln>
        </p:spPr>
      </p:sp>
      <p:sp>
        <p:nvSpPr>
          <p:cNvPr id="6" name="Text 4"/>
          <p:cNvSpPr txBox="1"/>
          <p:nvPr/>
        </p:nvSpPr>
        <p:spPr>
          <a:xfrm>
            <a:off x="5257800" y="1152144"/>
            <a:ext cx="1051560" cy="301752"/>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7" name="Text 5"/>
          <p:cNvSpPr txBox="1"/>
          <p:nvPr/>
        </p:nvSpPr>
        <p:spPr>
          <a:xfrm>
            <a:off x="457200" y="1645920"/>
            <a:ext cx="2103120" cy="411480"/>
          </a:xfrm>
          <a:prstGeom prst="rect">
            <a:avLst/>
          </a:prstGeom>
          <a:noFill/>
          <a:ln/>
        </p:spPr>
        <p:txBody>
          <a:bodyPr wrap="square" lIns="0" tIns="0" rIns="0" bIns="0" rtlCol="0" anchor="ctr"/>
          <a:lstStyle/>
          <a:p>
            <a:pPr indent="0" marL="0">
              <a:buNone/>
            </a:pPr>
            <a:r>
              <a:rPr lang="en-US" sz="1350" b="1" dirty="0">
                <a:solidFill>
                  <a:schemeClr val="tx1"/>
                </a:solidFill>
              </a:rPr>
              <a:t>Federated baseline</a:t>
            </a:r>
            <a:endParaRPr lang="en-US" sz="1350" dirty="0"/>
          </a:p>
        </p:txBody>
      </p:sp>
      <p:sp>
        <p:nvSpPr>
          <p:cNvPr id="8" name="Text 6"/>
          <p:cNvSpPr txBox="1"/>
          <p:nvPr/>
        </p:nvSpPr>
        <p:spPr>
          <a:xfrm>
            <a:off x="2560320" y="1645920"/>
            <a:ext cx="2651760" cy="411480"/>
          </a:xfrm>
          <a:prstGeom prst="rect">
            <a:avLst/>
          </a:prstGeom>
          <a:noFill/>
          <a:ln/>
        </p:spPr>
        <p:txBody>
          <a:bodyPr wrap="square" lIns="0" tIns="0" rIns="0" bIns="0" rtlCol="0" anchor="ctr"/>
          <a:lstStyle/>
          <a:p>
            <a:pPr indent="0" marL="0">
              <a:buNone/>
            </a:pPr>
            <a:r>
              <a:rPr lang="en-US" sz="1150" dirty="0">
                <a:solidFill>
                  <a:schemeClr val="accent6"/>
                </a:solidFill>
              </a:rPr>
              <a:t>FedAvg, local and centralised baselines</a:t>
            </a:r>
            <a:endParaRPr lang="en-US" sz="1150" dirty="0"/>
          </a:p>
        </p:txBody>
      </p:sp>
      <p:sp>
        <p:nvSpPr>
          <p:cNvPr id="9" name="pill"/>
          <p:cNvSpPr/>
          <p:nvPr/>
        </p:nvSpPr>
        <p:spPr>
          <a:xfrm>
            <a:off x="5257800" y="1700784"/>
            <a:ext cx="1051560" cy="301752"/>
          </a:xfrm>
          <a:prstGeom prst="roundRect">
            <a:avLst>
              <a:gd name="adj" fmla="val 50000"/>
            </a:avLst>
          </a:prstGeom>
          <a:solidFill>
            <a:schemeClr val="accent5"/>
          </a:solidFill>
          <a:ln w="12700">
            <a:solidFill>
              <a:schemeClr val="accent5"/>
            </a:solidFill>
            <a:prstDash val="solid"/>
          </a:ln>
        </p:spPr>
      </p:sp>
      <p:sp>
        <p:nvSpPr>
          <p:cNvPr id="10" name="Text 8"/>
          <p:cNvSpPr txBox="1"/>
          <p:nvPr/>
        </p:nvSpPr>
        <p:spPr>
          <a:xfrm>
            <a:off x="5257800" y="1700784"/>
            <a:ext cx="1051560" cy="301752"/>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11" name="Text 9"/>
          <p:cNvSpPr txBox="1"/>
          <p:nvPr/>
        </p:nvSpPr>
        <p:spPr>
          <a:xfrm>
            <a:off x="457200" y="2194560"/>
            <a:ext cx="2103120" cy="411480"/>
          </a:xfrm>
          <a:prstGeom prst="rect">
            <a:avLst/>
          </a:prstGeom>
          <a:noFill/>
          <a:ln/>
        </p:spPr>
        <p:txBody>
          <a:bodyPr wrap="square" lIns="0" tIns="0" rIns="0" bIns="0" rtlCol="0" anchor="ctr"/>
          <a:lstStyle/>
          <a:p>
            <a:pPr indent="0" marL="0">
              <a:buNone/>
            </a:pPr>
            <a:r>
              <a:rPr lang="en-US" sz="1350" b="1" dirty="0">
                <a:solidFill>
                  <a:schemeClr val="tx1"/>
                </a:solidFill>
              </a:rPr>
              <a:t>Smart contracts</a:t>
            </a:r>
            <a:endParaRPr lang="en-US" sz="1350" dirty="0"/>
          </a:p>
        </p:txBody>
      </p:sp>
      <p:sp>
        <p:nvSpPr>
          <p:cNvPr id="12" name="Text 10"/>
          <p:cNvSpPr txBox="1"/>
          <p:nvPr/>
        </p:nvSpPr>
        <p:spPr>
          <a:xfrm>
            <a:off x="2560320" y="2194560"/>
            <a:ext cx="2651760" cy="411480"/>
          </a:xfrm>
          <a:prstGeom prst="rect">
            <a:avLst/>
          </a:prstGeom>
          <a:noFill/>
          <a:ln/>
        </p:spPr>
        <p:txBody>
          <a:bodyPr wrap="square" lIns="0" tIns="0" rIns="0" bIns="0" rtlCol="0" anchor="ctr"/>
          <a:lstStyle/>
          <a:p>
            <a:pPr indent="0" marL="0">
              <a:buNone/>
            </a:pPr>
            <a:r>
              <a:rPr lang="en-US" sz="1150" dirty="0">
                <a:solidFill>
                  <a:schemeClr val="accent6"/>
                </a:solidFill>
              </a:rPr>
              <a:t>Coordinator + reputation registry, Solidity 0.8.24</a:t>
            </a:r>
            <a:endParaRPr lang="en-US" sz="1150" dirty="0"/>
          </a:p>
        </p:txBody>
      </p:sp>
      <p:sp>
        <p:nvSpPr>
          <p:cNvPr id="13" name="pill"/>
          <p:cNvSpPr/>
          <p:nvPr/>
        </p:nvSpPr>
        <p:spPr>
          <a:xfrm>
            <a:off x="5257800" y="2249424"/>
            <a:ext cx="1051560" cy="301752"/>
          </a:xfrm>
          <a:prstGeom prst="roundRect">
            <a:avLst>
              <a:gd name="adj" fmla="val 50000"/>
            </a:avLst>
          </a:prstGeom>
          <a:solidFill>
            <a:schemeClr val="accent5"/>
          </a:solidFill>
          <a:ln w="12700">
            <a:solidFill>
              <a:schemeClr val="accent5"/>
            </a:solidFill>
            <a:prstDash val="solid"/>
          </a:ln>
        </p:spPr>
      </p:sp>
      <p:sp>
        <p:nvSpPr>
          <p:cNvPr id="14" name="Text 12"/>
          <p:cNvSpPr txBox="1"/>
          <p:nvPr/>
        </p:nvSpPr>
        <p:spPr>
          <a:xfrm>
            <a:off x="5257800" y="2249424"/>
            <a:ext cx="1051560" cy="301752"/>
          </a:xfrm>
          <a:prstGeom prst="rect">
            <a:avLst/>
          </a:prstGeom>
          <a:noFill/>
          <a:ln/>
        </p:spPr>
        <p:txBody>
          <a:bodyPr wrap="square" lIns="0" tIns="0" rIns="0" bIns="0" rtlCol="0" anchor="ctr"/>
          <a:lstStyle/>
          <a:p>
            <a:pPr algn="ctr" indent="0" marL="0">
              <a:buNone/>
            </a:pPr>
            <a:r>
              <a:rPr lang="en-US" sz="1000" b="1" dirty="0">
                <a:solidFill>
                  <a:srgbClr val="FFFFFF"/>
                </a:solidFill>
              </a:rPr>
              <a:t>Done (local)</a:t>
            </a:r>
            <a:endParaRPr lang="en-US" sz="1000" dirty="0"/>
          </a:p>
        </p:txBody>
      </p:sp>
      <p:sp>
        <p:nvSpPr>
          <p:cNvPr id="15" name="Text 13"/>
          <p:cNvSpPr txBox="1"/>
          <p:nvPr/>
        </p:nvSpPr>
        <p:spPr>
          <a:xfrm>
            <a:off x="457200" y="2743200"/>
            <a:ext cx="2103120" cy="411480"/>
          </a:xfrm>
          <a:prstGeom prst="rect">
            <a:avLst/>
          </a:prstGeom>
          <a:noFill/>
          <a:ln/>
        </p:spPr>
        <p:txBody>
          <a:bodyPr wrap="square" lIns="0" tIns="0" rIns="0" bIns="0" rtlCol="0" anchor="ctr"/>
          <a:lstStyle/>
          <a:p>
            <a:pPr indent="0" marL="0">
              <a:buNone/>
            </a:pPr>
            <a:r>
              <a:rPr lang="en-US" sz="1350" b="1" dirty="0">
                <a:solidFill>
                  <a:schemeClr val="tx1"/>
                </a:solidFill>
              </a:rPr>
              <a:t>Privacy layer</a:t>
            </a:r>
            <a:endParaRPr lang="en-US" sz="1350" dirty="0"/>
          </a:p>
        </p:txBody>
      </p:sp>
      <p:sp>
        <p:nvSpPr>
          <p:cNvPr id="16" name="Text 14"/>
          <p:cNvSpPr txBox="1"/>
          <p:nvPr/>
        </p:nvSpPr>
        <p:spPr>
          <a:xfrm>
            <a:off x="2560320" y="2743200"/>
            <a:ext cx="2651760" cy="411480"/>
          </a:xfrm>
          <a:prstGeom prst="rect">
            <a:avLst/>
          </a:prstGeom>
          <a:noFill/>
          <a:ln/>
        </p:spPr>
        <p:txBody>
          <a:bodyPr wrap="square" lIns="0" tIns="0" rIns="0" bIns="0" rtlCol="0" anchor="ctr"/>
          <a:lstStyle/>
          <a:p>
            <a:pPr indent="0" marL="0">
              <a:buNone/>
            </a:pPr>
            <a:r>
              <a:rPr lang="en-US" sz="1150" dirty="0">
                <a:solidFill>
                  <a:schemeClr val="accent6"/>
                </a:solidFill>
              </a:rPr>
              <a:t>DP-SGD with RDP accounting; pairwise masking</a:t>
            </a:r>
            <a:endParaRPr lang="en-US" sz="1150" dirty="0"/>
          </a:p>
        </p:txBody>
      </p:sp>
      <p:sp>
        <p:nvSpPr>
          <p:cNvPr id="17" name="pill"/>
          <p:cNvSpPr/>
          <p:nvPr/>
        </p:nvSpPr>
        <p:spPr>
          <a:xfrm>
            <a:off x="5257800" y="2798064"/>
            <a:ext cx="1051560" cy="301752"/>
          </a:xfrm>
          <a:prstGeom prst="roundRect">
            <a:avLst>
              <a:gd name="adj" fmla="val 50000"/>
            </a:avLst>
          </a:prstGeom>
          <a:solidFill>
            <a:schemeClr val="accent5"/>
          </a:solidFill>
          <a:ln w="12700">
            <a:solidFill>
              <a:schemeClr val="accent5"/>
            </a:solidFill>
            <a:prstDash val="solid"/>
          </a:ln>
        </p:spPr>
      </p:sp>
      <p:sp>
        <p:nvSpPr>
          <p:cNvPr id="18" name="Text 16"/>
          <p:cNvSpPr txBox="1"/>
          <p:nvPr/>
        </p:nvSpPr>
        <p:spPr>
          <a:xfrm>
            <a:off x="5257800" y="2798064"/>
            <a:ext cx="1051560" cy="301752"/>
          </a:xfrm>
          <a:prstGeom prst="rect">
            <a:avLst/>
          </a:prstGeom>
          <a:noFill/>
          <a:ln/>
        </p:spPr>
        <p:txBody>
          <a:bodyPr wrap="square" lIns="0" tIns="0" rIns="0" bIns="0" rtlCol="0" anchor="ctr"/>
          <a:lstStyle/>
          <a:p>
            <a:pPr algn="ctr" indent="0" marL="0">
              <a:buNone/>
            </a:pPr>
            <a:r>
              <a:rPr lang="en-US" sz="1000" b="1" dirty="0">
                <a:solidFill>
                  <a:srgbClr val="FFFFFF"/>
                </a:solidFill>
              </a:rPr>
              <a:t>Done (sim.)</a:t>
            </a:r>
            <a:endParaRPr lang="en-US" sz="1000" dirty="0"/>
          </a:p>
        </p:txBody>
      </p:sp>
      <p:sp>
        <p:nvSpPr>
          <p:cNvPr id="19" name="Text 17"/>
          <p:cNvSpPr txBox="1"/>
          <p:nvPr/>
        </p:nvSpPr>
        <p:spPr>
          <a:xfrm>
            <a:off x="457200" y="3291840"/>
            <a:ext cx="2103120" cy="411480"/>
          </a:xfrm>
          <a:prstGeom prst="rect">
            <a:avLst/>
          </a:prstGeom>
          <a:noFill/>
          <a:ln/>
        </p:spPr>
        <p:txBody>
          <a:bodyPr wrap="square" lIns="0" tIns="0" rIns="0" bIns="0" rtlCol="0" anchor="ctr"/>
          <a:lstStyle/>
          <a:p>
            <a:pPr indent="0" marL="0">
              <a:buNone/>
            </a:pPr>
            <a:r>
              <a:rPr lang="en-US" sz="1350" b="1" dirty="0">
                <a:solidFill>
                  <a:schemeClr val="tx1"/>
                </a:solidFill>
              </a:rPr>
              <a:t>Reputation and scoring</a:t>
            </a:r>
            <a:endParaRPr lang="en-US" sz="1350" dirty="0"/>
          </a:p>
        </p:txBody>
      </p:sp>
      <p:sp>
        <p:nvSpPr>
          <p:cNvPr id="20" name="Text 18"/>
          <p:cNvSpPr txBox="1"/>
          <p:nvPr/>
        </p:nvSpPr>
        <p:spPr>
          <a:xfrm>
            <a:off x="2560320" y="3291840"/>
            <a:ext cx="2651760" cy="411480"/>
          </a:xfrm>
          <a:prstGeom prst="rect">
            <a:avLst/>
          </a:prstGeom>
          <a:noFill/>
          <a:ln/>
        </p:spPr>
        <p:txBody>
          <a:bodyPr wrap="square" lIns="0" tIns="0" rIns="0" bIns="0" rtlCol="0" anchor="ctr"/>
          <a:lstStyle/>
          <a:p>
            <a:pPr indent="0" marL="0">
              <a:buNone/>
            </a:pPr>
            <a:r>
              <a:rPr lang="en-US" sz="1150" dirty="0">
                <a:solidFill>
                  <a:schemeClr val="accent6"/>
                </a:solidFill>
              </a:rPr>
              <a:t>Validation + cosine score, asymmetric rule</a:t>
            </a:r>
            <a:endParaRPr lang="en-US" sz="1150" dirty="0"/>
          </a:p>
        </p:txBody>
      </p:sp>
      <p:sp>
        <p:nvSpPr>
          <p:cNvPr id="21" name="pill"/>
          <p:cNvSpPr/>
          <p:nvPr/>
        </p:nvSpPr>
        <p:spPr>
          <a:xfrm>
            <a:off x="5257800" y="3346704"/>
            <a:ext cx="1051560" cy="301752"/>
          </a:xfrm>
          <a:prstGeom prst="roundRect">
            <a:avLst>
              <a:gd name="adj" fmla="val 50000"/>
            </a:avLst>
          </a:prstGeom>
          <a:solidFill>
            <a:schemeClr val="accent5"/>
          </a:solidFill>
          <a:ln w="12700">
            <a:solidFill>
              <a:schemeClr val="accent5"/>
            </a:solidFill>
            <a:prstDash val="solid"/>
          </a:ln>
        </p:spPr>
      </p:sp>
      <p:sp>
        <p:nvSpPr>
          <p:cNvPr id="22" name="Text 20"/>
          <p:cNvSpPr txBox="1"/>
          <p:nvPr/>
        </p:nvSpPr>
        <p:spPr>
          <a:xfrm>
            <a:off x="5257800" y="3346704"/>
            <a:ext cx="1051560" cy="301752"/>
          </a:xfrm>
          <a:prstGeom prst="rect">
            <a:avLst/>
          </a:prstGeom>
          <a:noFill/>
          <a:ln/>
        </p:spPr>
        <p:txBody>
          <a:bodyPr wrap="square" lIns="0" tIns="0" rIns="0" bIns="0" rtlCol="0" anchor="ctr"/>
          <a:lstStyle/>
          <a:p>
            <a:pPr algn="ctr" indent="0" marL="0">
              <a:buNone/>
            </a:pPr>
            <a:r>
              <a:rPr lang="en-US" sz="1000" b="1" dirty="0">
                <a:solidFill>
                  <a:srgbClr val="FFFFFF"/>
                </a:solidFill>
              </a:rPr>
              <a:t>Done (sim.)</a:t>
            </a:r>
            <a:endParaRPr lang="en-US" sz="1000" dirty="0"/>
          </a:p>
        </p:txBody>
      </p:sp>
      <p:sp>
        <p:nvSpPr>
          <p:cNvPr id="23" name="Text 21"/>
          <p:cNvSpPr txBox="1"/>
          <p:nvPr/>
        </p:nvSpPr>
        <p:spPr>
          <a:xfrm>
            <a:off x="457200" y="3840480"/>
            <a:ext cx="2103120" cy="411480"/>
          </a:xfrm>
          <a:prstGeom prst="rect">
            <a:avLst/>
          </a:prstGeom>
          <a:noFill/>
          <a:ln/>
        </p:spPr>
        <p:txBody>
          <a:bodyPr wrap="square" lIns="0" tIns="0" rIns="0" bIns="0" rtlCol="0" anchor="ctr"/>
          <a:lstStyle/>
          <a:p>
            <a:pPr indent="0" marL="0">
              <a:buNone/>
            </a:pPr>
            <a:r>
              <a:rPr lang="en-US" sz="1350" b="1" dirty="0">
                <a:solidFill>
                  <a:schemeClr val="tx1"/>
                </a:solidFill>
              </a:rPr>
              <a:t>Testnet + dashboard</a:t>
            </a:r>
            <a:endParaRPr lang="en-US" sz="1350" dirty="0"/>
          </a:p>
        </p:txBody>
      </p:sp>
      <p:sp>
        <p:nvSpPr>
          <p:cNvPr id="24" name="Text 22"/>
          <p:cNvSpPr txBox="1"/>
          <p:nvPr/>
        </p:nvSpPr>
        <p:spPr>
          <a:xfrm>
            <a:off x="2560320" y="3840480"/>
            <a:ext cx="2651760" cy="411480"/>
          </a:xfrm>
          <a:prstGeom prst="rect">
            <a:avLst/>
          </a:prstGeom>
          <a:noFill/>
          <a:ln/>
        </p:spPr>
        <p:txBody>
          <a:bodyPr wrap="square" lIns="0" tIns="0" rIns="0" bIns="0" rtlCol="0" anchor="ctr"/>
          <a:lstStyle/>
          <a:p>
            <a:pPr indent="0" marL="0">
              <a:buNone/>
            </a:pPr>
            <a:r>
              <a:rPr lang="en-US" sz="1150" dirty="0">
                <a:solidFill>
                  <a:schemeClr val="accent6"/>
                </a:solidFill>
              </a:rPr>
              <a:t>Polygon Amoy deploy, Flower, React UI</a:t>
            </a:r>
            <a:endParaRPr lang="en-US" sz="1150" dirty="0"/>
          </a:p>
        </p:txBody>
      </p:sp>
      <p:sp>
        <p:nvSpPr>
          <p:cNvPr id="25" name="pill"/>
          <p:cNvSpPr/>
          <p:nvPr/>
        </p:nvSpPr>
        <p:spPr>
          <a:xfrm>
            <a:off x="5257800" y="3895344"/>
            <a:ext cx="1051560" cy="301752"/>
          </a:xfrm>
          <a:prstGeom prst="roundRect">
            <a:avLst>
              <a:gd name="adj" fmla="val 50000"/>
            </a:avLst>
          </a:prstGeom>
          <a:solidFill>
            <a:schemeClr val="accent1"/>
          </a:solidFill>
          <a:ln w="12700">
            <a:solidFill>
              <a:schemeClr val="accent1"/>
            </a:solidFill>
            <a:prstDash val="solid"/>
          </a:ln>
        </p:spPr>
      </p:sp>
      <p:sp>
        <p:nvSpPr>
          <p:cNvPr id="26" name="Text 24"/>
          <p:cNvSpPr txBox="1"/>
          <p:nvPr/>
        </p:nvSpPr>
        <p:spPr>
          <a:xfrm>
            <a:off x="5257800" y="3895344"/>
            <a:ext cx="1051560" cy="301752"/>
          </a:xfrm>
          <a:prstGeom prst="rect">
            <a:avLst/>
          </a:prstGeom>
          <a:noFill/>
          <a:ln/>
        </p:spPr>
        <p:txBody>
          <a:bodyPr wrap="square" lIns="0" tIns="0" rIns="0" bIns="0" rtlCol="0" anchor="ctr"/>
          <a:lstStyle/>
          <a:p>
            <a:pPr algn="ctr" indent="0" marL="0">
              <a:buNone/>
            </a:pPr>
            <a:r>
              <a:rPr lang="en-US" sz="1000" b="1" dirty="0">
                <a:solidFill>
                  <a:srgbClr val="1A1A1A"/>
                </a:solidFill>
              </a:rPr>
              <a:t>Next</a:t>
            </a:r>
            <a:endParaRPr lang="en-US" sz="1000" dirty="0"/>
          </a:p>
        </p:txBody>
      </p:sp>
      <p:sp>
        <p:nvSpPr>
          <p:cNvPr id="27" name="stat-shadow"/>
          <p:cNvSpPr/>
          <p:nvPr/>
        </p:nvSpPr>
        <p:spPr>
          <a:xfrm>
            <a:off x="6684264" y="1152144"/>
            <a:ext cx="2057400" cy="914400"/>
          </a:xfrm>
          <a:prstGeom prst="rect">
            <a:avLst/>
          </a:prstGeom>
          <a:solidFill>
            <a:schemeClr val="tx1"/>
          </a:solidFill>
          <a:ln w="12700">
            <a:solidFill>
              <a:schemeClr val="tx1"/>
            </a:solidFill>
            <a:prstDash val="solid"/>
          </a:ln>
        </p:spPr>
      </p:sp>
      <p:sp>
        <p:nvSpPr>
          <p:cNvPr id="28" name="stat"/>
          <p:cNvSpPr/>
          <p:nvPr/>
        </p:nvSpPr>
        <p:spPr>
          <a:xfrm>
            <a:off x="6629400" y="1097280"/>
            <a:ext cx="2057400" cy="914400"/>
          </a:xfrm>
          <a:prstGeom prst="rect">
            <a:avLst/>
          </a:prstGeom>
          <a:solidFill>
            <a:schemeClr val="tx2"/>
          </a:solidFill>
          <a:ln w="15875">
            <a:solidFill>
              <a:schemeClr val="tx1"/>
            </a:solidFill>
            <a:prstDash val="solid"/>
          </a:ln>
        </p:spPr>
      </p:sp>
      <p:sp>
        <p:nvSpPr>
          <p:cNvPr id="29" name="Text 27"/>
          <p:cNvSpPr txBox="1"/>
          <p:nvPr/>
        </p:nvSpPr>
        <p:spPr>
          <a:xfrm>
            <a:off x="6766560" y="1170432"/>
            <a:ext cx="1828800"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8 / 8</a:t>
            </a:r>
            <a:endParaRPr lang="en-US" sz="2600" dirty="0"/>
          </a:p>
        </p:txBody>
      </p:sp>
      <p:sp>
        <p:nvSpPr>
          <p:cNvPr id="30" name="Text 28"/>
          <p:cNvSpPr txBox="1"/>
          <p:nvPr/>
        </p:nvSpPr>
        <p:spPr>
          <a:xfrm>
            <a:off x="6766560" y="1627632"/>
            <a:ext cx="1828800" cy="347472"/>
          </a:xfrm>
          <a:prstGeom prst="rect">
            <a:avLst/>
          </a:prstGeom>
          <a:noFill/>
          <a:ln/>
        </p:spPr>
        <p:txBody>
          <a:bodyPr wrap="square" lIns="0" tIns="0" rIns="0" bIns="0" rtlCol="0" anchor="t"/>
          <a:lstStyle/>
          <a:p>
            <a:pPr indent="0" marL="0">
              <a:buNone/>
            </a:pPr>
            <a:r>
              <a:rPr lang="en-US" sz="1050" dirty="0">
                <a:solidFill>
                  <a:schemeClr val="bg2"/>
                </a:solidFill>
              </a:rPr>
              <a:t>contract tests passing</a:t>
            </a:r>
            <a:endParaRPr lang="en-US" sz="1050" dirty="0"/>
          </a:p>
        </p:txBody>
      </p:sp>
      <p:sp>
        <p:nvSpPr>
          <p:cNvPr id="31" name="stat-shadow"/>
          <p:cNvSpPr/>
          <p:nvPr/>
        </p:nvSpPr>
        <p:spPr>
          <a:xfrm>
            <a:off x="6684264" y="2267712"/>
            <a:ext cx="2057400" cy="914400"/>
          </a:xfrm>
          <a:prstGeom prst="rect">
            <a:avLst/>
          </a:prstGeom>
          <a:solidFill>
            <a:schemeClr val="tx1"/>
          </a:solidFill>
          <a:ln w="12700">
            <a:solidFill>
              <a:schemeClr val="tx1"/>
            </a:solidFill>
            <a:prstDash val="solid"/>
          </a:ln>
        </p:spPr>
      </p:sp>
      <p:sp>
        <p:nvSpPr>
          <p:cNvPr id="32" name="stat"/>
          <p:cNvSpPr/>
          <p:nvPr/>
        </p:nvSpPr>
        <p:spPr>
          <a:xfrm>
            <a:off x="6629400" y="2212848"/>
            <a:ext cx="2057400" cy="914400"/>
          </a:xfrm>
          <a:prstGeom prst="rect">
            <a:avLst/>
          </a:prstGeom>
          <a:solidFill>
            <a:schemeClr val="bg1"/>
          </a:solidFill>
          <a:ln w="15875">
            <a:solidFill>
              <a:schemeClr val="tx1"/>
            </a:solidFill>
            <a:prstDash val="solid"/>
          </a:ln>
        </p:spPr>
      </p:sp>
      <p:sp>
        <p:nvSpPr>
          <p:cNvPr id="33" name="Text 31"/>
          <p:cNvSpPr txBox="1"/>
          <p:nvPr/>
        </p:nvSpPr>
        <p:spPr>
          <a:xfrm>
            <a:off x="6766560" y="2286000"/>
            <a:ext cx="182880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190</a:t>
            </a:r>
            <a:endParaRPr lang="en-US" sz="2600" dirty="0"/>
          </a:p>
        </p:txBody>
      </p:sp>
      <p:sp>
        <p:nvSpPr>
          <p:cNvPr id="34" name="Text 32"/>
          <p:cNvSpPr txBox="1"/>
          <p:nvPr/>
        </p:nvSpPr>
        <p:spPr>
          <a:xfrm>
            <a:off x="6766560" y="2743200"/>
            <a:ext cx="1828800" cy="347472"/>
          </a:xfrm>
          <a:prstGeom prst="rect">
            <a:avLst/>
          </a:prstGeom>
          <a:noFill/>
          <a:ln/>
        </p:spPr>
        <p:txBody>
          <a:bodyPr wrap="square" lIns="0" tIns="0" rIns="0" bIns="0" rtlCol="0" anchor="t"/>
          <a:lstStyle/>
          <a:p>
            <a:pPr indent="0" marL="0">
              <a:buNone/>
            </a:pPr>
            <a:r>
              <a:rPr lang="en-US" sz="1050" dirty="0">
                <a:solidFill>
                  <a:schemeClr val="accent6"/>
                </a:solidFill>
              </a:rPr>
              <a:t>experiment runs (19 configs × 10 seeds)</a:t>
            </a:r>
            <a:endParaRPr lang="en-US" sz="1050" dirty="0"/>
          </a:p>
        </p:txBody>
      </p:sp>
      <p:sp>
        <p:nvSpPr>
          <p:cNvPr id="35" name="stat-shadow"/>
          <p:cNvSpPr/>
          <p:nvPr/>
        </p:nvSpPr>
        <p:spPr>
          <a:xfrm>
            <a:off x="6684264" y="3383280"/>
            <a:ext cx="2057400" cy="914400"/>
          </a:xfrm>
          <a:prstGeom prst="rect">
            <a:avLst/>
          </a:prstGeom>
          <a:solidFill>
            <a:schemeClr val="tx1"/>
          </a:solidFill>
          <a:ln w="12700">
            <a:solidFill>
              <a:schemeClr val="tx1"/>
            </a:solidFill>
            <a:prstDash val="solid"/>
          </a:ln>
        </p:spPr>
      </p:sp>
      <p:sp>
        <p:nvSpPr>
          <p:cNvPr id="36" name="stat"/>
          <p:cNvSpPr/>
          <p:nvPr/>
        </p:nvSpPr>
        <p:spPr>
          <a:xfrm>
            <a:off x="6629400" y="3328416"/>
            <a:ext cx="2057400" cy="914400"/>
          </a:xfrm>
          <a:prstGeom prst="rect">
            <a:avLst/>
          </a:prstGeom>
          <a:solidFill>
            <a:schemeClr val="bg1"/>
          </a:solidFill>
          <a:ln w="15875">
            <a:solidFill>
              <a:schemeClr val="tx1"/>
            </a:solidFill>
            <a:prstDash val="solid"/>
          </a:ln>
        </p:spPr>
      </p:sp>
      <p:sp>
        <p:nvSpPr>
          <p:cNvPr id="37" name="Text 35"/>
          <p:cNvSpPr txBox="1"/>
          <p:nvPr/>
        </p:nvSpPr>
        <p:spPr>
          <a:xfrm>
            <a:off x="6766560" y="3401568"/>
            <a:ext cx="182880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5 pp</a:t>
            </a:r>
            <a:endParaRPr lang="en-US" sz="2600" dirty="0"/>
          </a:p>
        </p:txBody>
      </p:sp>
      <p:sp>
        <p:nvSpPr>
          <p:cNvPr id="38" name="Text 36"/>
          <p:cNvSpPr txBox="1"/>
          <p:nvPr/>
        </p:nvSpPr>
        <p:spPr>
          <a:xfrm>
            <a:off x="6766560" y="3858768"/>
            <a:ext cx="1828800" cy="347472"/>
          </a:xfrm>
          <a:prstGeom prst="rect">
            <a:avLst/>
          </a:prstGeom>
          <a:noFill/>
          <a:ln/>
        </p:spPr>
        <p:txBody>
          <a:bodyPr wrap="square" lIns="0" tIns="0" rIns="0" bIns="0" rtlCol="0" anchor="t"/>
          <a:lstStyle/>
          <a:p>
            <a:pPr indent="0" marL="0">
              <a:buNone/>
            </a:pPr>
            <a:r>
              <a:rPr lang="en-US" sz="1050" dirty="0">
                <a:solidFill>
                  <a:schemeClr val="accent6"/>
                </a:solidFill>
              </a:rPr>
              <a:t>IEEE-style paper draft</a:t>
            </a:r>
            <a:endParaRPr lang="en-US" sz="10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Results: federation recovers the benefit of pooling</a:t>
            </a:r>
            <a:endParaRPr lang="en-US" sz="2800" dirty="0"/>
          </a:p>
        </p:txBody>
      </p:sp>
      <p:graphicFrame>
        <p:nvGraphicFramePr>
          <p:cNvPr id="3" name="Chart 0" descr=""/>
          <p:cNvGraphicFramePr/>
          <p:nvPr/>
        </p:nvGraphicFramePr>
        <p:xfrm>
          <a:off x="457200" y="105156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4" name="stat-shadow"/>
          <p:cNvSpPr/>
          <p:nvPr/>
        </p:nvSpPr>
        <p:spPr>
          <a:xfrm>
            <a:off x="5998464" y="1152144"/>
            <a:ext cx="2743200" cy="1417320"/>
          </a:xfrm>
          <a:prstGeom prst="rect">
            <a:avLst/>
          </a:prstGeom>
          <a:solidFill>
            <a:schemeClr val="tx1"/>
          </a:solidFill>
          <a:ln w="12700">
            <a:solidFill>
              <a:schemeClr val="tx1"/>
            </a:solidFill>
            <a:prstDash val="solid"/>
          </a:ln>
        </p:spPr>
      </p:sp>
      <p:sp>
        <p:nvSpPr>
          <p:cNvPr id="5" name="stat"/>
          <p:cNvSpPr/>
          <p:nvPr/>
        </p:nvSpPr>
        <p:spPr>
          <a:xfrm>
            <a:off x="5943600" y="1097280"/>
            <a:ext cx="2743200" cy="1417320"/>
          </a:xfrm>
          <a:prstGeom prst="rect">
            <a:avLst/>
          </a:prstGeom>
          <a:solidFill>
            <a:schemeClr val="tx2"/>
          </a:solidFill>
          <a:ln w="15875">
            <a:solidFill>
              <a:schemeClr val="tx1"/>
            </a:solidFill>
            <a:prstDash val="solid"/>
          </a:ln>
        </p:spPr>
      </p:sp>
      <p:sp>
        <p:nvSpPr>
          <p:cNvPr id="6" name="Text 3"/>
          <p:cNvSpPr txBox="1"/>
          <p:nvPr/>
        </p:nvSpPr>
        <p:spPr>
          <a:xfrm>
            <a:off x="6126480" y="1188720"/>
            <a:ext cx="246888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97.63%</a:t>
            </a:r>
            <a:endParaRPr lang="en-US" sz="3600" dirty="0"/>
          </a:p>
        </p:txBody>
      </p:sp>
      <p:sp>
        <p:nvSpPr>
          <p:cNvPr id="7" name="Text 4"/>
          <p:cNvSpPr txBox="1"/>
          <p:nvPr/>
        </p:nvSpPr>
        <p:spPr>
          <a:xfrm>
            <a:off x="6126480" y="1828800"/>
            <a:ext cx="2423160" cy="594360"/>
          </a:xfrm>
          <a:prstGeom prst="rect">
            <a:avLst/>
          </a:prstGeom>
          <a:noFill/>
          <a:ln/>
        </p:spPr>
        <p:txBody>
          <a:bodyPr wrap="square" lIns="0" tIns="0" rIns="0" bIns="0" rtlCol="0" anchor="t"/>
          <a:lstStyle/>
          <a:p>
            <a:pPr indent="0" marL="0">
              <a:buNone/>
            </a:pPr>
            <a:r>
              <a:rPr lang="en-US" sz="1150" dirty="0">
                <a:solidFill>
                  <a:schemeClr val="bg2"/>
                </a:solidFill>
              </a:rPr>
              <a:t>Sangam accuracy, within 0.09 points of a trusted-server FedAvg</a:t>
            </a:r>
            <a:endParaRPr lang="en-US" sz="1150" dirty="0"/>
          </a:p>
        </p:txBody>
      </p:sp>
      <p:sp>
        <p:nvSpPr>
          <p:cNvPr id="8" name="stat-shadow"/>
          <p:cNvSpPr/>
          <p:nvPr/>
        </p:nvSpPr>
        <p:spPr>
          <a:xfrm>
            <a:off x="5998464" y="2889504"/>
            <a:ext cx="2743200" cy="1417320"/>
          </a:xfrm>
          <a:prstGeom prst="rect">
            <a:avLst/>
          </a:prstGeom>
          <a:solidFill>
            <a:schemeClr val="tx1"/>
          </a:solidFill>
          <a:ln w="12700">
            <a:solidFill>
              <a:schemeClr val="tx1"/>
            </a:solidFill>
            <a:prstDash val="solid"/>
          </a:ln>
        </p:spPr>
      </p:sp>
      <p:sp>
        <p:nvSpPr>
          <p:cNvPr id="9" name="stat"/>
          <p:cNvSpPr/>
          <p:nvPr/>
        </p:nvSpPr>
        <p:spPr>
          <a:xfrm>
            <a:off x="5943600" y="2834640"/>
            <a:ext cx="2743200" cy="1417320"/>
          </a:xfrm>
          <a:prstGeom prst="rect">
            <a:avLst/>
          </a:prstGeom>
          <a:solidFill>
            <a:schemeClr val="bg1"/>
          </a:solidFill>
          <a:ln w="15875">
            <a:solidFill>
              <a:schemeClr val="tx1"/>
            </a:solidFill>
            <a:prstDash val="solid"/>
          </a:ln>
        </p:spPr>
      </p:sp>
      <p:sp>
        <p:nvSpPr>
          <p:cNvPr id="10" name="Text 7"/>
          <p:cNvSpPr txBox="1"/>
          <p:nvPr/>
        </p:nvSpPr>
        <p:spPr>
          <a:xfrm>
            <a:off x="6126480" y="2926080"/>
            <a:ext cx="246888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+1.77 pts</a:t>
            </a:r>
            <a:endParaRPr lang="en-US" sz="3200" dirty="0"/>
          </a:p>
        </p:txBody>
      </p:sp>
      <p:sp>
        <p:nvSpPr>
          <p:cNvPr id="11" name="Text 8"/>
          <p:cNvSpPr txBox="1"/>
          <p:nvPr/>
        </p:nvSpPr>
        <p:spPr>
          <a:xfrm>
            <a:off x="6126480" y="3566160"/>
            <a:ext cx="2423160" cy="594360"/>
          </a:xfrm>
          <a:prstGeom prst="rect">
            <a:avLst/>
          </a:prstGeom>
          <a:noFill/>
          <a:ln/>
        </p:spPr>
        <p:txBody>
          <a:bodyPr wrap="square" lIns="0" tIns="0" rIns="0" bIns="0" rtlCol="0" anchor="t"/>
          <a:lstStyle/>
          <a:p>
            <a:pPr indent="0" marL="0">
              <a:buNone/>
            </a:pPr>
            <a:r>
              <a:rPr lang="en-US" sz="1150" dirty="0">
                <a:solidFill>
                  <a:schemeClr val="accent6"/>
                </a:solidFill>
              </a:rPr>
              <a:t>over a hospital training alone, without any trusted server</a:t>
            </a:r>
            <a:endParaRPr lang="en-US" sz="11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Results: one attacker breaks FedAvg, not Sangam</a:t>
            </a:r>
            <a:endParaRPr lang="en-US" sz="2800" dirty="0"/>
          </a:p>
        </p:txBody>
      </p:sp>
      <p:graphicFrame>
        <p:nvGraphicFramePr>
          <p:cNvPr id="3" name="Chart 0" descr=""/>
          <p:cNvGraphicFramePr/>
          <p:nvPr/>
        </p:nvGraphicFramePr>
        <p:xfrm>
          <a:off x="457200" y="105156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4" name="stat-shadow"/>
          <p:cNvSpPr/>
          <p:nvPr/>
        </p:nvSpPr>
        <p:spPr>
          <a:xfrm>
            <a:off x="5998464" y="1152144"/>
            <a:ext cx="2743200" cy="1417320"/>
          </a:xfrm>
          <a:prstGeom prst="rect">
            <a:avLst/>
          </a:prstGeom>
          <a:solidFill>
            <a:schemeClr val="tx1"/>
          </a:solidFill>
          <a:ln w="12700">
            <a:solidFill>
              <a:schemeClr val="tx1"/>
            </a:solidFill>
            <a:prstDash val="solid"/>
          </a:ln>
        </p:spPr>
      </p:sp>
      <p:sp>
        <p:nvSpPr>
          <p:cNvPr id="5" name="stat"/>
          <p:cNvSpPr/>
          <p:nvPr/>
        </p:nvSpPr>
        <p:spPr>
          <a:xfrm>
            <a:off x="5943600" y="1097280"/>
            <a:ext cx="2743200" cy="1417320"/>
          </a:xfrm>
          <a:prstGeom prst="rect">
            <a:avLst/>
          </a:prstGeom>
          <a:solidFill>
            <a:schemeClr val="bg1"/>
          </a:solidFill>
          <a:ln w="15875">
            <a:solidFill>
              <a:schemeClr val="tx1"/>
            </a:solidFill>
            <a:prstDash val="solid"/>
          </a:ln>
        </p:spPr>
      </p:sp>
      <p:sp>
        <p:nvSpPr>
          <p:cNvPr id="6" name="Text 3"/>
          <p:cNvSpPr txBox="1"/>
          <p:nvPr/>
        </p:nvSpPr>
        <p:spPr>
          <a:xfrm>
            <a:off x="6126480" y="1188720"/>
            <a:ext cx="2468880" cy="640080"/>
          </a:xfrm>
          <a:prstGeom prst="rect">
            <a:avLst/>
          </a:prstGeom>
          <a:noFill/>
          <a:ln/>
        </p:spPr>
        <p:txBody>
          <a:bodyPr wrap="square" lIns="0" tIns="0" rIns="0" bIns="0" rtlCol="0" anchor="t"/>
          <a:lstStyle/>
          <a:p>
            <a:pPr indent="0" marL="0">
              <a:buNone/>
            </a:pPr>
            <a:r>
              <a:rPr lang="en-US" sz="3200" b="1" dirty="0">
                <a:solidFill>
                  <a:srgbClr val="B4432F"/>
                </a:solidFill>
                <a:latin typeface="Cambria" pitchFamily="34" charset="0"/>
                <a:ea typeface="Cambria" pitchFamily="34" charset="-122"/>
                <a:cs typeface="Cambria" pitchFamily="34" charset="-120"/>
              </a:rPr>
              <a:t>46% </a:t>
            </a:r>
            <a:pPr indent="0" marL="0">
              <a:buNone/>
            </a:pPr>
            <a:r>
              <a:rPr lang="en-US" sz="3200" b="1" dirty="0">
                <a:solidFill>
                  <a:srgbClr val="23336B"/>
                </a:solidFill>
                <a:latin typeface="Cambria" pitchFamily="34" charset="0"/>
                <a:ea typeface="Cambria" pitchFamily="34" charset="-122"/>
                <a:cs typeface="Cambria" pitchFamily="34" charset="-120"/>
              </a:rPr>
              <a:t>→ 97%</a:t>
            </a:r>
            <a:endParaRPr lang="en-US" sz="3200" dirty="0"/>
          </a:p>
        </p:txBody>
      </p:sp>
      <p:sp>
        <p:nvSpPr>
          <p:cNvPr id="7" name="Text 4"/>
          <p:cNvSpPr txBox="1"/>
          <p:nvPr/>
        </p:nvSpPr>
        <p:spPr>
          <a:xfrm>
            <a:off x="6126480" y="1828800"/>
            <a:ext cx="2423160" cy="594360"/>
          </a:xfrm>
          <a:prstGeom prst="rect">
            <a:avLst/>
          </a:prstGeom>
          <a:noFill/>
          <a:ln/>
        </p:spPr>
        <p:txBody>
          <a:bodyPr wrap="square" lIns="0" tIns="0" rIns="0" bIns="0" rtlCol="0" anchor="t"/>
          <a:lstStyle/>
          <a:p>
            <a:pPr indent="0" marL="0">
              <a:buNone/>
            </a:pPr>
            <a:r>
              <a:rPr lang="en-US" sz="1150" dirty="0">
                <a:solidFill>
                  <a:schemeClr val="accent6"/>
                </a:solidFill>
              </a:rPr>
              <a:t>accuracy under sign flipping: FedAvg vs. Sangam</a:t>
            </a:r>
            <a:endParaRPr lang="en-US" sz="1150" dirty="0"/>
          </a:p>
        </p:txBody>
      </p:sp>
      <p:sp>
        <p:nvSpPr>
          <p:cNvPr id="8" name="stat-shadow"/>
          <p:cNvSpPr/>
          <p:nvPr/>
        </p:nvSpPr>
        <p:spPr>
          <a:xfrm>
            <a:off x="5998464" y="2889504"/>
            <a:ext cx="2743200" cy="1417320"/>
          </a:xfrm>
          <a:prstGeom prst="rect">
            <a:avLst/>
          </a:prstGeom>
          <a:solidFill>
            <a:schemeClr val="tx1"/>
          </a:solidFill>
          <a:ln w="12700">
            <a:solidFill>
              <a:schemeClr val="tx1"/>
            </a:solidFill>
            <a:prstDash val="solid"/>
          </a:ln>
        </p:spPr>
      </p:sp>
      <p:sp>
        <p:nvSpPr>
          <p:cNvPr id="9" name="stat"/>
          <p:cNvSpPr/>
          <p:nvPr/>
        </p:nvSpPr>
        <p:spPr>
          <a:xfrm>
            <a:off x="5943600" y="2834640"/>
            <a:ext cx="2743200" cy="1417320"/>
          </a:xfrm>
          <a:prstGeom prst="rect">
            <a:avLst/>
          </a:prstGeom>
          <a:solidFill>
            <a:schemeClr val="tx2"/>
          </a:solidFill>
          <a:ln w="15875">
            <a:solidFill>
              <a:schemeClr val="tx1"/>
            </a:solidFill>
            <a:prstDash val="solid"/>
          </a:ln>
        </p:spPr>
      </p:sp>
      <p:sp>
        <p:nvSpPr>
          <p:cNvPr id="10" name="Text 7"/>
          <p:cNvSpPr txBox="1"/>
          <p:nvPr/>
        </p:nvSpPr>
        <p:spPr>
          <a:xfrm>
            <a:off x="6126480" y="2926080"/>
            <a:ext cx="2468880" cy="64008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28.8% → 1.9%</a:t>
            </a:r>
            <a:endParaRPr lang="en-US" sz="2800" dirty="0"/>
          </a:p>
        </p:txBody>
      </p:sp>
      <p:sp>
        <p:nvSpPr>
          <p:cNvPr id="11" name="Text 8"/>
          <p:cNvSpPr txBox="1"/>
          <p:nvPr/>
        </p:nvSpPr>
        <p:spPr>
          <a:xfrm>
            <a:off x="6126480" y="3566160"/>
            <a:ext cx="2423160" cy="594360"/>
          </a:xfrm>
          <a:prstGeom prst="rect">
            <a:avLst/>
          </a:prstGeom>
          <a:noFill/>
          <a:ln/>
        </p:spPr>
        <p:txBody>
          <a:bodyPr wrap="square" lIns="0" tIns="0" rIns="0" bIns="0" rtlCol="0" anchor="t"/>
          <a:lstStyle/>
          <a:p>
            <a:pPr indent="0" marL="0">
              <a:buNone/>
            </a:pPr>
            <a:r>
              <a:rPr lang="en-US" sz="1150" dirty="0">
                <a:solidFill>
                  <a:schemeClr val="bg2"/>
                </a:solidFill>
              </a:rPr>
              <a:t>attacker's share of the model. Honest, the same hospital keeps 29.1%.</a:t>
            </a:r>
            <a:endParaRPr lang="en-US" sz="11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Results: privacy costs little, the chain costs less</a:t>
            </a:r>
            <a:endParaRPr lang="en-US" sz="2800" dirty="0"/>
          </a:p>
        </p:txBody>
      </p:sp>
      <p:graphicFrame>
        <p:nvGraphicFramePr>
          <p:cNvPr id="3" name="Chart 0" descr=""/>
          <p:cNvGraphicFramePr/>
          <p:nvPr/>
        </p:nvGraphicFramePr>
        <p:xfrm>
          <a:off x="457200" y="105156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4" name="stat-shadow"/>
          <p:cNvSpPr/>
          <p:nvPr/>
        </p:nvSpPr>
        <p:spPr>
          <a:xfrm>
            <a:off x="5404104" y="1152144"/>
            <a:ext cx="1508760" cy="1371600"/>
          </a:xfrm>
          <a:prstGeom prst="rect">
            <a:avLst/>
          </a:prstGeom>
          <a:solidFill>
            <a:schemeClr val="tx1"/>
          </a:solidFill>
          <a:ln w="12700">
            <a:solidFill>
              <a:schemeClr val="tx1"/>
            </a:solidFill>
            <a:prstDash val="solid"/>
          </a:ln>
        </p:spPr>
      </p:sp>
      <p:sp>
        <p:nvSpPr>
          <p:cNvPr id="5" name="stat"/>
          <p:cNvSpPr/>
          <p:nvPr/>
        </p:nvSpPr>
        <p:spPr>
          <a:xfrm>
            <a:off x="5349240" y="1097280"/>
            <a:ext cx="1508760" cy="1371600"/>
          </a:xfrm>
          <a:prstGeom prst="rect">
            <a:avLst/>
          </a:prstGeom>
          <a:solidFill>
            <a:schemeClr val="bg1"/>
          </a:solidFill>
          <a:ln w="15875">
            <a:solidFill>
              <a:schemeClr val="tx1"/>
            </a:solidFill>
            <a:prstDash val="solid"/>
          </a:ln>
        </p:spPr>
      </p:sp>
      <p:sp>
        <p:nvSpPr>
          <p:cNvPr id="6" name="Text 3"/>
          <p:cNvSpPr txBox="1"/>
          <p:nvPr/>
        </p:nvSpPr>
        <p:spPr>
          <a:xfrm>
            <a:off x="5458968" y="1207008"/>
            <a:ext cx="1325880" cy="548640"/>
          </a:xfrm>
          <a:prstGeom prst="rect">
            <a:avLst/>
          </a:prstGeom>
          <a:noFill/>
          <a:ln/>
        </p:spPr>
        <p:txBody>
          <a:bodyPr wrap="square" lIns="0" tIns="0" rIns="0" bIns="0" rtlCol="0" anchor="ctr"/>
          <a:lstStyle/>
          <a:p>
            <a:pPr indent="0" marL="0">
              <a:buNone/>
            </a:pPr>
            <a:r>
              <a:rPr lang="en-US" sz="1700" b="1" dirty="0">
                <a:solidFill>
                  <a:schemeClr val="accent3"/>
                </a:solidFill>
                <a:latin typeface="Cambria" pitchFamily="34" charset="0"/>
                <a:ea typeface="Cambria" pitchFamily="34" charset="-122"/>
                <a:cs typeface="Cambria" pitchFamily="34" charset="-120"/>
              </a:rPr>
              <a:t>96.67%</a:t>
            </a:r>
            <a:endParaRPr lang="en-US" sz="1700" dirty="0"/>
          </a:p>
        </p:txBody>
      </p:sp>
      <p:sp>
        <p:nvSpPr>
          <p:cNvPr id="7" name="Text 4"/>
          <p:cNvSpPr txBox="1"/>
          <p:nvPr/>
        </p:nvSpPr>
        <p:spPr>
          <a:xfrm>
            <a:off x="5458968" y="1783080"/>
            <a:ext cx="1325880" cy="594360"/>
          </a:xfrm>
          <a:prstGeom prst="rect">
            <a:avLst/>
          </a:prstGeom>
          <a:noFill/>
          <a:ln/>
        </p:spPr>
        <p:txBody>
          <a:bodyPr wrap="square" lIns="0" tIns="0" rIns="0" bIns="0" rtlCol="0" anchor="t"/>
          <a:lstStyle/>
          <a:p>
            <a:pPr indent="0" marL="0">
              <a:buNone/>
            </a:pPr>
            <a:r>
              <a:rPr lang="en-US" sz="1050" dirty="0">
                <a:solidFill>
                  <a:schemeClr val="accent6"/>
                </a:solidFill>
              </a:rPr>
              <a:t>accuracy at ε = 4 (δ = 10⁻⁵)</a:t>
            </a:r>
            <a:endParaRPr lang="en-US" sz="1050" dirty="0"/>
          </a:p>
        </p:txBody>
      </p:sp>
      <p:sp>
        <p:nvSpPr>
          <p:cNvPr id="8" name="stat-shadow"/>
          <p:cNvSpPr/>
          <p:nvPr/>
        </p:nvSpPr>
        <p:spPr>
          <a:xfrm>
            <a:off x="7095744" y="1152144"/>
            <a:ext cx="1508760" cy="1371600"/>
          </a:xfrm>
          <a:prstGeom prst="rect">
            <a:avLst/>
          </a:prstGeom>
          <a:solidFill>
            <a:schemeClr val="tx1"/>
          </a:solidFill>
          <a:ln w="12700">
            <a:solidFill>
              <a:schemeClr val="tx1"/>
            </a:solidFill>
            <a:prstDash val="solid"/>
          </a:ln>
        </p:spPr>
      </p:sp>
      <p:sp>
        <p:nvSpPr>
          <p:cNvPr id="9" name="stat"/>
          <p:cNvSpPr/>
          <p:nvPr/>
        </p:nvSpPr>
        <p:spPr>
          <a:xfrm>
            <a:off x="7040880" y="1097280"/>
            <a:ext cx="1508760" cy="1371600"/>
          </a:xfrm>
          <a:prstGeom prst="rect">
            <a:avLst/>
          </a:prstGeom>
          <a:solidFill>
            <a:schemeClr val="bg1"/>
          </a:solidFill>
          <a:ln w="15875">
            <a:solidFill>
              <a:schemeClr val="tx1"/>
            </a:solidFill>
            <a:prstDash val="solid"/>
          </a:ln>
        </p:spPr>
      </p:sp>
      <p:sp>
        <p:nvSpPr>
          <p:cNvPr id="10" name="Text 7"/>
          <p:cNvSpPr txBox="1"/>
          <p:nvPr/>
        </p:nvSpPr>
        <p:spPr>
          <a:xfrm>
            <a:off x="7150608" y="1207008"/>
            <a:ext cx="1325880" cy="548640"/>
          </a:xfrm>
          <a:prstGeom prst="rect">
            <a:avLst/>
          </a:prstGeom>
          <a:noFill/>
          <a:ln/>
        </p:spPr>
        <p:txBody>
          <a:bodyPr wrap="square" lIns="0" tIns="0" rIns="0" bIns="0" rtlCol="0" anchor="ctr"/>
          <a:lstStyle/>
          <a:p>
            <a:pPr indent="0" marL="0">
              <a:buNone/>
            </a:pPr>
            <a:r>
              <a:rPr lang="en-US" sz="1500" b="1" dirty="0">
                <a:solidFill>
                  <a:schemeClr val="accent2"/>
                </a:solidFill>
                <a:latin typeface="Cambria" pitchFamily="34" charset="0"/>
                <a:ea typeface="Cambria" pitchFamily="34" charset="-122"/>
                <a:cs typeface="Cambria" pitchFamily="34" charset="-120"/>
              </a:rPr>
              <a:t>668,449 gas</a:t>
            </a:r>
            <a:endParaRPr lang="en-US" sz="1500" dirty="0"/>
          </a:p>
        </p:txBody>
      </p:sp>
      <p:sp>
        <p:nvSpPr>
          <p:cNvPr id="11" name="Text 8"/>
          <p:cNvSpPr txBox="1"/>
          <p:nvPr/>
        </p:nvSpPr>
        <p:spPr>
          <a:xfrm>
            <a:off x="7150608" y="1783080"/>
            <a:ext cx="1325880" cy="594360"/>
          </a:xfrm>
          <a:prstGeom prst="rect">
            <a:avLst/>
          </a:prstGeom>
          <a:noFill/>
          <a:ln/>
        </p:spPr>
        <p:txBody>
          <a:bodyPr wrap="square" lIns="0" tIns="0" rIns="0" bIns="0" rtlCol="0" anchor="t"/>
          <a:lstStyle/>
          <a:p>
            <a:pPr indent="0" marL="0">
              <a:buNone/>
            </a:pPr>
            <a:r>
              <a:rPr lang="en-US" sz="1050" dirty="0">
                <a:solidFill>
                  <a:schemeClr val="accent6"/>
                </a:solidFill>
              </a:rPr>
              <a:t>full round, 4 hospitals (measured)</a:t>
            </a:r>
            <a:endParaRPr lang="en-US" sz="1050" dirty="0"/>
          </a:p>
        </p:txBody>
      </p:sp>
      <p:sp>
        <p:nvSpPr>
          <p:cNvPr id="12" name="stat-shadow"/>
          <p:cNvSpPr/>
          <p:nvPr/>
        </p:nvSpPr>
        <p:spPr>
          <a:xfrm>
            <a:off x="5404104" y="2752344"/>
            <a:ext cx="1508760" cy="1371600"/>
          </a:xfrm>
          <a:prstGeom prst="rect">
            <a:avLst/>
          </a:prstGeom>
          <a:solidFill>
            <a:schemeClr val="tx1"/>
          </a:solidFill>
          <a:ln w="12700">
            <a:solidFill>
              <a:schemeClr val="tx1"/>
            </a:solidFill>
            <a:prstDash val="solid"/>
          </a:ln>
        </p:spPr>
      </p:sp>
      <p:sp>
        <p:nvSpPr>
          <p:cNvPr id="13" name="stat"/>
          <p:cNvSpPr/>
          <p:nvPr/>
        </p:nvSpPr>
        <p:spPr>
          <a:xfrm>
            <a:off x="5349240" y="2697480"/>
            <a:ext cx="1508760" cy="1371600"/>
          </a:xfrm>
          <a:prstGeom prst="rect">
            <a:avLst/>
          </a:prstGeom>
          <a:solidFill>
            <a:schemeClr val="bg1"/>
          </a:solidFill>
          <a:ln w="15875">
            <a:solidFill>
              <a:schemeClr val="tx1"/>
            </a:solidFill>
            <a:prstDash val="solid"/>
          </a:ln>
        </p:spPr>
      </p:sp>
      <p:sp>
        <p:nvSpPr>
          <p:cNvPr id="14" name="Text 11"/>
          <p:cNvSpPr txBox="1"/>
          <p:nvPr/>
        </p:nvSpPr>
        <p:spPr>
          <a:xfrm>
            <a:off x="5458968" y="2807208"/>
            <a:ext cx="1325880" cy="548640"/>
          </a:xfrm>
          <a:prstGeom prst="rect">
            <a:avLst/>
          </a:prstGeom>
          <a:noFill/>
          <a:ln/>
        </p:spPr>
        <p:txBody>
          <a:bodyPr wrap="square" lIns="0" tIns="0" rIns="0" bIns="0" rtlCol="0" anchor="ctr"/>
          <a:lstStyle/>
          <a:p>
            <a:pPr indent="0" marL="0">
              <a:buNone/>
            </a:pPr>
            <a:r>
              <a:rPr lang="en-US" sz="1700" b="1" dirty="0">
                <a:solidFill>
                  <a:schemeClr val="accent2"/>
                </a:solidFill>
                <a:latin typeface="Cambria" pitchFamily="34" charset="0"/>
                <a:ea typeface="Cambria" pitchFamily="34" charset="-122"/>
                <a:cs typeface="Cambria" pitchFamily="34" charset="-120"/>
              </a:rPr>
              <a:t>58,246 gas</a:t>
            </a:r>
            <a:endParaRPr lang="en-US" sz="1700" dirty="0"/>
          </a:p>
        </p:txBody>
      </p:sp>
      <p:sp>
        <p:nvSpPr>
          <p:cNvPr id="15" name="Text 12"/>
          <p:cNvSpPr txBox="1"/>
          <p:nvPr/>
        </p:nvSpPr>
        <p:spPr>
          <a:xfrm>
            <a:off x="5458968" y="3383280"/>
            <a:ext cx="1325880" cy="594360"/>
          </a:xfrm>
          <a:prstGeom prst="rect">
            <a:avLst/>
          </a:prstGeom>
          <a:noFill/>
          <a:ln/>
        </p:spPr>
        <p:txBody>
          <a:bodyPr wrap="square" lIns="0" tIns="0" rIns="0" bIns="0" rtlCol="0" anchor="t"/>
          <a:lstStyle/>
          <a:p>
            <a:pPr indent="0" marL="0">
              <a:buNone/>
            </a:pPr>
            <a:r>
              <a:rPr lang="en-US" sz="1050" dirty="0">
                <a:solidFill>
                  <a:schemeClr val="accent6"/>
                </a:solidFill>
              </a:rPr>
              <a:t>per hospital commitment</a:t>
            </a:r>
            <a:endParaRPr lang="en-US" sz="1050" dirty="0"/>
          </a:p>
        </p:txBody>
      </p:sp>
      <p:sp>
        <p:nvSpPr>
          <p:cNvPr id="16" name="stat-shadow"/>
          <p:cNvSpPr/>
          <p:nvPr/>
        </p:nvSpPr>
        <p:spPr>
          <a:xfrm>
            <a:off x="7095744" y="2752344"/>
            <a:ext cx="1508760" cy="1371600"/>
          </a:xfrm>
          <a:prstGeom prst="rect">
            <a:avLst/>
          </a:prstGeom>
          <a:solidFill>
            <a:schemeClr val="tx1"/>
          </a:solidFill>
          <a:ln w="12700">
            <a:solidFill>
              <a:schemeClr val="tx1"/>
            </a:solidFill>
            <a:prstDash val="solid"/>
          </a:ln>
        </p:spPr>
      </p:sp>
      <p:sp>
        <p:nvSpPr>
          <p:cNvPr id="17" name="stat"/>
          <p:cNvSpPr/>
          <p:nvPr/>
        </p:nvSpPr>
        <p:spPr>
          <a:xfrm>
            <a:off x="7040880" y="2697480"/>
            <a:ext cx="1508760" cy="1371600"/>
          </a:xfrm>
          <a:prstGeom prst="rect">
            <a:avLst/>
          </a:prstGeom>
          <a:solidFill>
            <a:schemeClr val="bg1"/>
          </a:solidFill>
          <a:ln w="15875">
            <a:solidFill>
              <a:schemeClr val="tx1"/>
            </a:solidFill>
            <a:prstDash val="solid"/>
          </a:ln>
        </p:spPr>
      </p:sp>
      <p:sp>
        <p:nvSpPr>
          <p:cNvPr id="18" name="Text 15"/>
          <p:cNvSpPr txBox="1"/>
          <p:nvPr/>
        </p:nvSpPr>
        <p:spPr>
          <a:xfrm>
            <a:off x="7150608" y="2807208"/>
            <a:ext cx="1325880" cy="548640"/>
          </a:xfrm>
          <a:prstGeom prst="rect">
            <a:avLst/>
          </a:prstGeom>
          <a:noFill/>
          <a:ln/>
        </p:spPr>
        <p:txBody>
          <a:bodyPr wrap="square" lIns="0" tIns="0" rIns="0" bIns="0" rtlCol="0" anchor="ctr"/>
          <a:lstStyle/>
          <a:p>
            <a:pPr indent="0" marL="0">
              <a:buNone/>
            </a:pPr>
            <a:r>
              <a:rPr lang="en-US" sz="1700" b="1" dirty="0">
                <a:solidFill>
                  <a:schemeClr val="accent2"/>
                </a:solidFill>
                <a:latin typeface="Cambria" pitchFamily="34" charset="0"/>
                <a:ea typeface="Cambria" pitchFamily="34" charset="-122"/>
                <a:cs typeface="Cambria" pitchFamily="34" charset="-120"/>
              </a:rPr>
              <a:t>0.51 ms</a:t>
            </a:r>
            <a:endParaRPr lang="en-US" sz="1700" dirty="0"/>
          </a:p>
        </p:txBody>
      </p:sp>
      <p:sp>
        <p:nvSpPr>
          <p:cNvPr id="19" name="Text 16"/>
          <p:cNvSpPr txBox="1"/>
          <p:nvPr/>
        </p:nvSpPr>
        <p:spPr>
          <a:xfrm>
            <a:off x="7150608" y="3383280"/>
            <a:ext cx="1325880" cy="594360"/>
          </a:xfrm>
          <a:prstGeom prst="rect">
            <a:avLst/>
          </a:prstGeom>
          <a:noFill/>
          <a:ln/>
        </p:spPr>
        <p:txBody>
          <a:bodyPr wrap="square" lIns="0" tIns="0" rIns="0" bIns="0" rtlCol="0" anchor="t"/>
          <a:lstStyle/>
          <a:p>
            <a:pPr indent="0" marL="0">
              <a:buNone/>
            </a:pPr>
            <a:r>
              <a:rPr lang="en-US" sz="1050" dirty="0">
                <a:solidFill>
                  <a:schemeClr val="accent6"/>
                </a:solidFill>
              </a:rPr>
              <a:t>secure aggregation per round</a:t>
            </a:r>
            <a:endParaRPr lang="en-US" sz="10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Discussion and limitations</a:t>
            </a:r>
            <a:endParaRPr lang="en-US" sz="2800" dirty="0"/>
          </a:p>
        </p:txBody>
      </p:sp>
      <p:sp>
        <p:nvSpPr>
          <p:cNvPr id="3" name="limitation-shadow"/>
          <p:cNvSpPr/>
          <p:nvPr/>
        </p:nvSpPr>
        <p:spPr>
          <a:xfrm>
            <a:off x="512064" y="1197864"/>
            <a:ext cx="3931920" cy="1417320"/>
          </a:xfrm>
          <a:prstGeom prst="rect">
            <a:avLst/>
          </a:prstGeom>
          <a:solidFill>
            <a:schemeClr val="tx1"/>
          </a:solidFill>
          <a:ln w="12700">
            <a:solidFill>
              <a:schemeClr val="tx1"/>
            </a:solidFill>
            <a:prstDash val="solid"/>
          </a:ln>
        </p:spPr>
      </p:sp>
      <p:sp>
        <p:nvSpPr>
          <p:cNvPr id="4" name="limitation"/>
          <p:cNvSpPr/>
          <p:nvPr/>
        </p:nvSpPr>
        <p:spPr>
          <a:xfrm>
            <a:off x="457200" y="1143000"/>
            <a:ext cx="3931920" cy="1417320"/>
          </a:xfrm>
          <a:prstGeom prst="rect">
            <a:avLst/>
          </a:prstGeom>
          <a:solidFill>
            <a:schemeClr val="bg1"/>
          </a:solidFill>
          <a:ln w="15875">
            <a:solidFill>
              <a:schemeClr val="tx1"/>
            </a:solidFill>
            <a:prstDash val="solid"/>
          </a:ln>
        </p:spPr>
      </p:sp>
      <p:sp>
        <p:nvSpPr>
          <p:cNvPr id="5" name="icon-circle"/>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7" name="Text 4"/>
          <p:cNvSpPr txBox="1"/>
          <p:nvPr/>
        </p:nvSpPr>
        <p:spPr>
          <a:xfrm>
            <a:off x="1325880" y="1344168"/>
            <a:ext cx="2926080" cy="320040"/>
          </a:xfrm>
          <a:prstGeom prst="rect">
            <a:avLst/>
          </a:prstGeom>
          <a:noFill/>
          <a:ln/>
        </p:spPr>
        <p:txBody>
          <a:bodyPr wrap="square" lIns="0" tIns="0" rIns="0" bIns="0" rtlCol="0" anchor="t"/>
          <a:lstStyle/>
          <a:p>
            <a:pPr indent="0" marL="0">
              <a:buNone/>
            </a:pPr>
            <a:r>
              <a:rPr lang="en-US" sz="1450" b="1" dirty="0">
                <a:solidFill>
                  <a:schemeClr val="tx1"/>
                </a:solidFill>
              </a:rPr>
              <a:t>Validators see updates</a:t>
            </a:r>
            <a:endParaRPr lang="en-US" sz="1450" dirty="0"/>
          </a:p>
        </p:txBody>
      </p:sp>
      <p:sp>
        <p:nvSpPr>
          <p:cNvPr id="8" name="Text 5"/>
          <p:cNvSpPr txBox="1"/>
          <p:nvPr/>
        </p:nvSpPr>
        <p:spPr>
          <a:xfrm>
            <a:off x="1325880" y="1691640"/>
            <a:ext cx="2926080" cy="777240"/>
          </a:xfrm>
          <a:prstGeom prst="rect">
            <a:avLst/>
          </a:prstGeom>
          <a:noFill/>
          <a:ln/>
        </p:spPr>
        <p:txBody>
          <a:bodyPr wrap="square" lIns="0" tIns="0" rIns="0" bIns="0" rtlCol="0" anchor="t"/>
          <a:lstStyle/>
          <a:p>
            <a:pPr indent="0" marL="0">
              <a:buNone/>
            </a:pPr>
            <a:r>
              <a:rPr lang="en-US" sz="1200" dirty="0">
                <a:solidFill>
                  <a:schemeClr val="accent6"/>
                </a:solidFill>
              </a:rPr>
              <a:t>They see DP-noised updates only; leakage bounded by ε. ZK proofs could remove this.</a:t>
            </a:r>
            <a:endParaRPr lang="en-US" sz="1200" dirty="0"/>
          </a:p>
        </p:txBody>
      </p:sp>
      <p:sp>
        <p:nvSpPr>
          <p:cNvPr id="9" name="limitation-shadow"/>
          <p:cNvSpPr/>
          <p:nvPr/>
        </p:nvSpPr>
        <p:spPr>
          <a:xfrm>
            <a:off x="4718304" y="1197864"/>
            <a:ext cx="3931920" cy="1417320"/>
          </a:xfrm>
          <a:prstGeom prst="rect">
            <a:avLst/>
          </a:prstGeom>
          <a:solidFill>
            <a:schemeClr val="tx1"/>
          </a:solidFill>
          <a:ln w="12700">
            <a:solidFill>
              <a:schemeClr val="tx1"/>
            </a:solidFill>
            <a:prstDash val="solid"/>
          </a:ln>
        </p:spPr>
      </p:sp>
      <p:sp>
        <p:nvSpPr>
          <p:cNvPr id="10" name="limitation"/>
          <p:cNvSpPr/>
          <p:nvPr/>
        </p:nvSpPr>
        <p:spPr>
          <a:xfrm>
            <a:off x="4663440" y="1143000"/>
            <a:ext cx="3931920" cy="1417320"/>
          </a:xfrm>
          <a:prstGeom prst="rect">
            <a:avLst/>
          </a:prstGeom>
          <a:solidFill>
            <a:schemeClr val="bg1"/>
          </a:solidFill>
          <a:ln w="15875">
            <a:solidFill>
              <a:schemeClr val="tx1"/>
            </a:solidFill>
            <a:prstDash val="solid"/>
          </a:ln>
        </p:spPr>
      </p:sp>
      <p:sp>
        <p:nvSpPr>
          <p:cNvPr id="11" name="icon-circle"/>
          <p:cNvSpPr/>
          <p:nvPr/>
        </p:nvSpPr>
        <p:spPr>
          <a:xfrm>
            <a:off x="4846320" y="1325880"/>
            <a:ext cx="502920" cy="50292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4972050" y="1451610"/>
            <a:ext cx="251460" cy="251460"/>
          </a:xfrm>
          <a:prstGeom prst="rect">
            <a:avLst/>
          </a:prstGeom>
        </p:spPr>
      </p:pic>
      <p:sp>
        <p:nvSpPr>
          <p:cNvPr id="13" name="Text 9"/>
          <p:cNvSpPr txBox="1"/>
          <p:nvPr/>
        </p:nvSpPr>
        <p:spPr>
          <a:xfrm>
            <a:off x="5532120" y="1344168"/>
            <a:ext cx="2926080" cy="320040"/>
          </a:xfrm>
          <a:prstGeom prst="rect">
            <a:avLst/>
          </a:prstGeom>
          <a:noFill/>
          <a:ln/>
        </p:spPr>
        <p:txBody>
          <a:bodyPr wrap="square" lIns="0" tIns="0" rIns="0" bIns="0" rtlCol="0" anchor="t"/>
          <a:lstStyle/>
          <a:p>
            <a:pPr indent="0" marL="0">
              <a:buNone/>
            </a:pPr>
            <a:r>
              <a:rPr lang="en-US" sz="1450" b="1" dirty="0">
                <a:solidFill>
                  <a:schemeClr val="tx1"/>
                </a:solidFill>
              </a:rPr>
              <a:t>Commitment binding</a:t>
            </a:r>
            <a:endParaRPr lang="en-US" sz="1450" dirty="0"/>
          </a:p>
        </p:txBody>
      </p:sp>
      <p:sp>
        <p:nvSpPr>
          <p:cNvPr id="14" name="Text 10"/>
          <p:cNvSpPr txBox="1"/>
          <p:nvPr/>
        </p:nvSpPr>
        <p:spPr>
          <a:xfrm>
            <a:off x="5532120" y="1691640"/>
            <a:ext cx="2926080" cy="777240"/>
          </a:xfrm>
          <a:prstGeom prst="rect">
            <a:avLst/>
          </a:prstGeom>
          <a:noFill/>
          <a:ln/>
        </p:spPr>
        <p:txBody>
          <a:bodyPr wrap="square" lIns="0" tIns="0" rIns="0" bIns="0" rtlCol="0" anchor="t"/>
          <a:lstStyle/>
          <a:p>
            <a:pPr indent="0" marL="0">
              <a:buNone/>
            </a:pPr>
            <a:r>
              <a:rPr lang="en-US" sz="1200" dirty="0">
                <a:solidFill>
                  <a:schemeClr val="accent6"/>
                </a:solidFill>
              </a:rPr>
              <a:t>The aggregator cannot check a masked input against its hash. Needs verifiable aggregation.</a:t>
            </a:r>
            <a:endParaRPr lang="en-US" sz="1200" dirty="0"/>
          </a:p>
        </p:txBody>
      </p:sp>
      <p:sp>
        <p:nvSpPr>
          <p:cNvPr id="15" name="limitation-shadow"/>
          <p:cNvSpPr/>
          <p:nvPr/>
        </p:nvSpPr>
        <p:spPr>
          <a:xfrm>
            <a:off x="512064" y="2889504"/>
            <a:ext cx="3931920" cy="1417320"/>
          </a:xfrm>
          <a:prstGeom prst="rect">
            <a:avLst/>
          </a:prstGeom>
          <a:solidFill>
            <a:schemeClr val="tx1"/>
          </a:solidFill>
          <a:ln w="12700">
            <a:solidFill>
              <a:schemeClr val="tx1"/>
            </a:solidFill>
            <a:prstDash val="solid"/>
          </a:ln>
        </p:spPr>
      </p:sp>
      <p:sp>
        <p:nvSpPr>
          <p:cNvPr id="16" name="limitation"/>
          <p:cNvSpPr/>
          <p:nvPr/>
        </p:nvSpPr>
        <p:spPr>
          <a:xfrm>
            <a:off x="457200" y="2834640"/>
            <a:ext cx="3931920" cy="1417320"/>
          </a:xfrm>
          <a:prstGeom prst="rect">
            <a:avLst/>
          </a:prstGeom>
          <a:solidFill>
            <a:schemeClr val="bg1"/>
          </a:solidFill>
          <a:ln w="15875">
            <a:solidFill>
              <a:schemeClr val="tx1"/>
            </a:solidFill>
            <a:prstDash val="solid"/>
          </a:ln>
        </p:spPr>
      </p:sp>
      <p:sp>
        <p:nvSpPr>
          <p:cNvPr id="17" name="icon-circle"/>
          <p:cNvSpPr/>
          <p:nvPr/>
        </p:nvSpPr>
        <p:spPr>
          <a:xfrm>
            <a:off x="640080" y="3017520"/>
            <a:ext cx="502920" cy="502920"/>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765810" y="3143250"/>
            <a:ext cx="251460" cy="251460"/>
          </a:xfrm>
          <a:prstGeom prst="rect">
            <a:avLst/>
          </a:prstGeom>
        </p:spPr>
      </p:pic>
      <p:sp>
        <p:nvSpPr>
          <p:cNvPr id="19" name="Text 14"/>
          <p:cNvSpPr txBox="1"/>
          <p:nvPr/>
        </p:nvSpPr>
        <p:spPr>
          <a:xfrm>
            <a:off x="1325880" y="3035808"/>
            <a:ext cx="2926080" cy="320040"/>
          </a:xfrm>
          <a:prstGeom prst="rect">
            <a:avLst/>
          </a:prstGeom>
          <a:noFill/>
          <a:ln/>
        </p:spPr>
        <p:txBody>
          <a:bodyPr wrap="square" lIns="0" tIns="0" rIns="0" bIns="0" rtlCol="0" anchor="t"/>
          <a:lstStyle/>
          <a:p>
            <a:pPr indent="0" marL="0">
              <a:buNone/>
            </a:pPr>
            <a:r>
              <a:rPr lang="en-US" sz="1450" b="1" dirty="0">
                <a:solidFill>
                  <a:schemeClr val="tx1"/>
                </a:solidFill>
              </a:rPr>
              <a:t>Self-reported sizes</a:t>
            </a:r>
            <a:endParaRPr lang="en-US" sz="1450" dirty="0"/>
          </a:p>
        </p:txBody>
      </p:sp>
      <p:sp>
        <p:nvSpPr>
          <p:cNvPr id="20" name="Text 15"/>
          <p:cNvSpPr txBox="1"/>
          <p:nvPr/>
        </p:nvSpPr>
        <p:spPr>
          <a:xfrm>
            <a:off x="1325880" y="3383280"/>
            <a:ext cx="2926080" cy="777240"/>
          </a:xfrm>
          <a:prstGeom prst="rect">
            <a:avLst/>
          </a:prstGeom>
          <a:noFill/>
          <a:ln/>
        </p:spPr>
        <p:txBody>
          <a:bodyPr wrap="square" lIns="0" tIns="0" rIns="0" bIns="0" rtlCol="0" anchor="t"/>
          <a:lstStyle/>
          <a:p>
            <a:pPr indent="0" marL="0">
              <a:buNone/>
            </a:pPr>
            <a:r>
              <a:rPr lang="en-US" sz="1200" dirty="0">
                <a:solidFill>
                  <a:schemeClr val="accent6"/>
                </a:solidFill>
              </a:rPr>
              <a:t>Hospitals declare their data size. Reputation limits but does not stop inflation.</a:t>
            </a:r>
            <a:endParaRPr lang="en-US" sz="1200" dirty="0"/>
          </a:p>
        </p:txBody>
      </p:sp>
      <p:sp>
        <p:nvSpPr>
          <p:cNvPr id="21" name="limitation-shadow"/>
          <p:cNvSpPr/>
          <p:nvPr/>
        </p:nvSpPr>
        <p:spPr>
          <a:xfrm>
            <a:off x="4718304" y="2889504"/>
            <a:ext cx="3931920" cy="1417320"/>
          </a:xfrm>
          <a:prstGeom prst="rect">
            <a:avLst/>
          </a:prstGeom>
          <a:solidFill>
            <a:schemeClr val="tx1"/>
          </a:solidFill>
          <a:ln w="12700">
            <a:solidFill>
              <a:schemeClr val="tx1"/>
            </a:solidFill>
            <a:prstDash val="solid"/>
          </a:ln>
        </p:spPr>
      </p:sp>
      <p:sp>
        <p:nvSpPr>
          <p:cNvPr id="22" name="limitation"/>
          <p:cNvSpPr/>
          <p:nvPr/>
        </p:nvSpPr>
        <p:spPr>
          <a:xfrm>
            <a:off x="4663440" y="2834640"/>
            <a:ext cx="3931920" cy="1417320"/>
          </a:xfrm>
          <a:prstGeom prst="rect">
            <a:avLst/>
          </a:prstGeom>
          <a:solidFill>
            <a:schemeClr val="bg1"/>
          </a:solidFill>
          <a:ln w="15875">
            <a:solidFill>
              <a:schemeClr val="tx1"/>
            </a:solidFill>
            <a:prstDash val="solid"/>
          </a:ln>
        </p:spPr>
      </p:sp>
      <p:sp>
        <p:nvSpPr>
          <p:cNvPr id="23" name="icon-circle"/>
          <p:cNvSpPr/>
          <p:nvPr/>
        </p:nvSpPr>
        <p:spPr>
          <a:xfrm>
            <a:off x="4846320" y="3017520"/>
            <a:ext cx="502920" cy="502920"/>
          </a:xfrm>
          <a:prstGeom prst="ellipse">
            <a:avLst/>
          </a:prstGeom>
          <a:solidFill>
            <a:schemeClr val="accent1"/>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4972050" y="3143250"/>
            <a:ext cx="251460" cy="251460"/>
          </a:xfrm>
          <a:prstGeom prst="rect">
            <a:avLst/>
          </a:prstGeom>
        </p:spPr>
      </p:pic>
      <p:sp>
        <p:nvSpPr>
          <p:cNvPr id="25" name="Text 19"/>
          <p:cNvSpPr txBox="1"/>
          <p:nvPr/>
        </p:nvSpPr>
        <p:spPr>
          <a:xfrm>
            <a:off x="5532120" y="3035808"/>
            <a:ext cx="2926080" cy="320040"/>
          </a:xfrm>
          <a:prstGeom prst="rect">
            <a:avLst/>
          </a:prstGeom>
          <a:noFill/>
          <a:ln/>
        </p:spPr>
        <p:txBody>
          <a:bodyPr wrap="square" lIns="0" tIns="0" rIns="0" bIns="0" rtlCol="0" anchor="t"/>
          <a:lstStyle/>
          <a:p>
            <a:pPr indent="0" marL="0">
              <a:buNone/>
            </a:pPr>
            <a:r>
              <a:rPr lang="en-US" sz="1450" b="1" dirty="0">
                <a:solidFill>
                  <a:schemeClr val="tx1"/>
                </a:solidFill>
              </a:rPr>
              <a:t>Scale</a:t>
            </a:r>
            <a:endParaRPr lang="en-US" sz="1450" dirty="0"/>
          </a:p>
        </p:txBody>
      </p:sp>
      <p:sp>
        <p:nvSpPr>
          <p:cNvPr id="26" name="Text 20"/>
          <p:cNvSpPr txBox="1"/>
          <p:nvPr/>
        </p:nvSpPr>
        <p:spPr>
          <a:xfrm>
            <a:off x="5532120" y="3383280"/>
            <a:ext cx="2926080" cy="777240"/>
          </a:xfrm>
          <a:prstGeom prst="rect">
            <a:avLst/>
          </a:prstGeom>
          <a:noFill/>
          <a:ln/>
        </p:spPr>
        <p:txBody>
          <a:bodyPr wrap="square" lIns="0" tIns="0" rIns="0" bIns="0" rtlCol="0" anchor="t"/>
          <a:lstStyle/>
          <a:p>
            <a:pPr indent="0" marL="0">
              <a:buNone/>
            </a:pPr>
            <a:r>
              <a:rPr lang="en-US" sz="1200" dirty="0">
                <a:solidFill>
                  <a:schemeClr val="accent6"/>
                </a:solidFill>
              </a:rPr>
              <a:t>4 hospitals, tabular data, 513-parameter model. Imaging and more hospitals next.</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Future scope and work plan</a:t>
            </a:r>
            <a:endParaRPr lang="en-US" sz="2800" dirty="0"/>
          </a:p>
        </p:txBody>
      </p:sp>
      <p:sp>
        <p:nvSpPr>
          <p:cNvPr id="3" name="timeline"/>
          <p:cNvSpPr/>
          <p:nvPr/>
        </p:nvSpPr>
        <p:spPr>
          <a:xfrm>
            <a:off x="731520" y="1783080"/>
            <a:ext cx="7680960" cy="0"/>
          </a:xfrm>
          <a:prstGeom prst="line">
            <a:avLst/>
          </a:prstGeom>
          <a:noFill/>
          <a:ln w="19050">
            <a:solidFill>
              <a:srgbClr val="1A1A1A"/>
            </a:solidFill>
            <a:prstDash val="solid"/>
          </a:ln>
        </p:spPr>
      </p:sp>
      <p:sp>
        <p:nvSpPr>
          <p:cNvPr id="4" name="pill"/>
          <p:cNvSpPr/>
          <p:nvPr/>
        </p:nvSpPr>
        <p:spPr>
          <a:xfrm>
            <a:off x="457200" y="1600200"/>
            <a:ext cx="1463040" cy="365760"/>
          </a:xfrm>
          <a:prstGeom prst="roundRect">
            <a:avLst>
              <a:gd name="adj" fmla="val 50000"/>
            </a:avLst>
          </a:prstGeom>
          <a:solidFill>
            <a:srgbClr val="23336B"/>
          </a:solidFill>
          <a:ln w="12700">
            <a:solidFill>
              <a:srgbClr val="1A1A1A"/>
            </a:solidFill>
            <a:prstDash val="solid"/>
          </a:ln>
        </p:spPr>
      </p:sp>
      <p:sp>
        <p:nvSpPr>
          <p:cNvPr id="5" name="Text 3"/>
          <p:cNvSpPr txBox="1"/>
          <p:nvPr/>
        </p:nvSpPr>
        <p:spPr>
          <a:xfrm>
            <a:off x="457200" y="1600200"/>
            <a:ext cx="1463040" cy="365760"/>
          </a:xfrm>
          <a:prstGeom prst="rect">
            <a:avLst/>
          </a:prstGeom>
          <a:noFill/>
          <a:ln/>
        </p:spPr>
        <p:txBody>
          <a:bodyPr wrap="square" lIns="0" tIns="0" rIns="0" bIns="0" rtlCol="0" anchor="ctr"/>
          <a:lstStyle/>
          <a:p>
            <a:pPr algn="ctr" indent="0" marL="0">
              <a:buNone/>
            </a:pPr>
            <a:r>
              <a:rPr lang="en-US" sz="1050" b="1" dirty="0">
                <a:solidFill>
                  <a:srgbClr val="FFFFFF"/>
                </a:solidFill>
              </a:rPr>
              <a:t>Nov–Dec 2026</a:t>
            </a:r>
            <a:endParaRPr lang="en-US" sz="1050" dirty="0"/>
          </a:p>
        </p:txBody>
      </p:sp>
      <p:sp>
        <p:nvSpPr>
          <p:cNvPr id="6" name="Text 4"/>
          <p:cNvSpPr txBox="1"/>
          <p:nvPr/>
        </p:nvSpPr>
        <p:spPr>
          <a:xfrm>
            <a:off x="457200" y="2240280"/>
            <a:ext cx="187452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Testnet + Flower</a:t>
            </a:r>
            <a:endParaRPr lang="en-US" sz="1500" dirty="0"/>
          </a:p>
        </p:txBody>
      </p:sp>
      <p:sp>
        <p:nvSpPr>
          <p:cNvPr id="7" name="Text 5"/>
          <p:cNvSpPr txBox="1"/>
          <p:nvPr/>
        </p:nvSpPr>
        <p:spPr>
          <a:xfrm>
            <a:off x="457200" y="2651760"/>
            <a:ext cx="1874520" cy="914400"/>
          </a:xfrm>
          <a:prstGeom prst="rect">
            <a:avLst/>
          </a:prstGeom>
          <a:noFill/>
          <a:ln/>
        </p:spPr>
        <p:txBody>
          <a:bodyPr wrap="square" lIns="0" tIns="0" rIns="0" bIns="0" rtlCol="0" anchor="t"/>
          <a:lstStyle/>
          <a:p>
            <a:pPr indent="0" marL="0">
              <a:buNone/>
            </a:pPr>
            <a:r>
              <a:rPr lang="en-US" sz="1200" dirty="0">
                <a:solidFill>
                  <a:schemeClr val="accent6"/>
                </a:solidFill>
              </a:rPr>
              <a:t>Deploy to Polygon Amoy; port to Flower + Opacus with PyTorch</a:t>
            </a:r>
            <a:endParaRPr lang="en-US" sz="1200" dirty="0"/>
          </a:p>
        </p:txBody>
      </p:sp>
      <p:sp>
        <p:nvSpPr>
          <p:cNvPr id="8" name="pill"/>
          <p:cNvSpPr/>
          <p:nvPr/>
        </p:nvSpPr>
        <p:spPr>
          <a:xfrm>
            <a:off x="2560320" y="1600200"/>
            <a:ext cx="1463040" cy="365760"/>
          </a:xfrm>
          <a:prstGeom prst="roundRect">
            <a:avLst>
              <a:gd name="adj" fmla="val 50000"/>
            </a:avLst>
          </a:prstGeom>
          <a:solidFill>
            <a:srgbClr val="F6F2EA"/>
          </a:solidFill>
          <a:ln w="12700">
            <a:solidFill>
              <a:srgbClr val="1A1A1A"/>
            </a:solidFill>
            <a:prstDash val="solid"/>
          </a:ln>
        </p:spPr>
      </p:sp>
      <p:sp>
        <p:nvSpPr>
          <p:cNvPr id="9" name="Text 7"/>
          <p:cNvSpPr txBox="1"/>
          <p:nvPr/>
        </p:nvSpPr>
        <p:spPr>
          <a:xfrm>
            <a:off x="2560320" y="1600200"/>
            <a:ext cx="1463040" cy="365760"/>
          </a:xfrm>
          <a:prstGeom prst="rect">
            <a:avLst/>
          </a:prstGeom>
          <a:noFill/>
          <a:ln/>
        </p:spPr>
        <p:txBody>
          <a:bodyPr wrap="square" lIns="0" tIns="0" rIns="0" bIns="0" rtlCol="0" anchor="ctr"/>
          <a:lstStyle/>
          <a:p>
            <a:pPr algn="ctr" indent="0" marL="0">
              <a:buNone/>
            </a:pPr>
            <a:r>
              <a:rPr lang="en-US" sz="1050" b="1" dirty="0">
                <a:solidFill>
                  <a:srgbClr val="1A1A1A"/>
                </a:solidFill>
              </a:rPr>
              <a:t>Jan 2027</a:t>
            </a:r>
            <a:endParaRPr lang="en-US" sz="1050" dirty="0"/>
          </a:p>
        </p:txBody>
      </p:sp>
      <p:sp>
        <p:nvSpPr>
          <p:cNvPr id="10" name="Text 8"/>
          <p:cNvSpPr txBox="1"/>
          <p:nvPr/>
        </p:nvSpPr>
        <p:spPr>
          <a:xfrm>
            <a:off x="2560320" y="2240280"/>
            <a:ext cx="187452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Imaging at scale</a:t>
            </a:r>
            <a:endParaRPr lang="en-US" sz="1500" dirty="0"/>
          </a:p>
        </p:txBody>
      </p:sp>
      <p:sp>
        <p:nvSpPr>
          <p:cNvPr id="11" name="Text 9"/>
          <p:cNvSpPr txBox="1"/>
          <p:nvPr/>
        </p:nvSpPr>
        <p:spPr>
          <a:xfrm>
            <a:off x="2560320" y="2651760"/>
            <a:ext cx="1874520" cy="914400"/>
          </a:xfrm>
          <a:prstGeom prst="rect">
            <a:avLst/>
          </a:prstGeom>
          <a:noFill/>
          <a:ln/>
        </p:spPr>
        <p:txBody>
          <a:bodyPr wrap="square" lIns="0" tIns="0" rIns="0" bIns="0" rtlCol="0" anchor="t"/>
          <a:lstStyle/>
          <a:p>
            <a:pPr indent="0" marL="0">
              <a:buNone/>
            </a:pPr>
            <a:r>
              <a:rPr lang="en-US" sz="1200" dirty="0">
                <a:solidFill>
                  <a:schemeClr val="accent6"/>
                </a:solidFill>
              </a:rPr>
              <a:t>MedMNIST chest X-ray, 8+ hospitals, adaptive attacks</a:t>
            </a:r>
            <a:endParaRPr lang="en-US" sz="1200" dirty="0"/>
          </a:p>
        </p:txBody>
      </p:sp>
      <p:sp>
        <p:nvSpPr>
          <p:cNvPr id="12" name="pill"/>
          <p:cNvSpPr/>
          <p:nvPr/>
        </p:nvSpPr>
        <p:spPr>
          <a:xfrm>
            <a:off x="4663440" y="1600200"/>
            <a:ext cx="1463040" cy="365760"/>
          </a:xfrm>
          <a:prstGeom prst="roundRect">
            <a:avLst>
              <a:gd name="adj" fmla="val 50000"/>
            </a:avLst>
          </a:prstGeom>
          <a:solidFill>
            <a:srgbClr val="F6F2EA"/>
          </a:solidFill>
          <a:ln w="12700">
            <a:solidFill>
              <a:srgbClr val="1A1A1A"/>
            </a:solidFill>
            <a:prstDash val="solid"/>
          </a:ln>
        </p:spPr>
      </p:sp>
      <p:sp>
        <p:nvSpPr>
          <p:cNvPr id="13" name="Text 11"/>
          <p:cNvSpPr txBox="1"/>
          <p:nvPr/>
        </p:nvSpPr>
        <p:spPr>
          <a:xfrm>
            <a:off x="4663440" y="1600200"/>
            <a:ext cx="1463040" cy="365760"/>
          </a:xfrm>
          <a:prstGeom prst="rect">
            <a:avLst/>
          </a:prstGeom>
          <a:noFill/>
          <a:ln/>
        </p:spPr>
        <p:txBody>
          <a:bodyPr wrap="square" lIns="0" tIns="0" rIns="0" bIns="0" rtlCol="0" anchor="ctr"/>
          <a:lstStyle/>
          <a:p>
            <a:pPr algn="ctr" indent="0" marL="0">
              <a:buNone/>
            </a:pPr>
            <a:r>
              <a:rPr lang="en-US" sz="1050" b="1" dirty="0">
                <a:solidFill>
                  <a:srgbClr val="1A1A1A"/>
                </a:solidFill>
              </a:rPr>
              <a:t>Feb–Mar 2027</a:t>
            </a:r>
            <a:endParaRPr lang="en-US" sz="1050" dirty="0"/>
          </a:p>
        </p:txBody>
      </p:sp>
      <p:sp>
        <p:nvSpPr>
          <p:cNvPr id="14" name="Text 12"/>
          <p:cNvSpPr txBox="1"/>
          <p:nvPr/>
        </p:nvSpPr>
        <p:spPr>
          <a:xfrm>
            <a:off x="4663440" y="2240280"/>
            <a:ext cx="187452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Verifiability</a:t>
            </a:r>
            <a:endParaRPr lang="en-US" sz="1500" dirty="0"/>
          </a:p>
        </p:txBody>
      </p:sp>
      <p:sp>
        <p:nvSpPr>
          <p:cNvPr id="15" name="Text 13"/>
          <p:cNvSpPr txBox="1"/>
          <p:nvPr/>
        </p:nvSpPr>
        <p:spPr>
          <a:xfrm>
            <a:off x="4663440" y="2651760"/>
            <a:ext cx="1874520" cy="914400"/>
          </a:xfrm>
          <a:prstGeom prst="rect">
            <a:avLst/>
          </a:prstGeom>
          <a:noFill/>
          <a:ln/>
        </p:spPr>
        <p:txBody>
          <a:bodyPr wrap="square" lIns="0" tIns="0" rIns="0" bIns="0" rtlCol="0" anchor="t"/>
          <a:lstStyle/>
          <a:p>
            <a:pPr indent="0" marL="0">
              <a:buNone/>
            </a:pPr>
            <a:r>
              <a:rPr lang="en-US" sz="1200" dirty="0">
                <a:solidFill>
                  <a:schemeClr val="accent6"/>
                </a:solidFill>
              </a:rPr>
              <a:t>Zero-knowledge proof of correct aggregation</a:t>
            </a:r>
            <a:endParaRPr lang="en-US" sz="1200" dirty="0"/>
          </a:p>
        </p:txBody>
      </p:sp>
      <p:sp>
        <p:nvSpPr>
          <p:cNvPr id="16" name="pill"/>
          <p:cNvSpPr/>
          <p:nvPr/>
        </p:nvSpPr>
        <p:spPr>
          <a:xfrm>
            <a:off x="6766560" y="1600200"/>
            <a:ext cx="1463040" cy="365760"/>
          </a:xfrm>
          <a:prstGeom prst="roundRect">
            <a:avLst>
              <a:gd name="adj" fmla="val 50000"/>
            </a:avLst>
          </a:prstGeom>
          <a:solidFill>
            <a:srgbClr val="F6F2EA"/>
          </a:solidFill>
          <a:ln w="12700">
            <a:solidFill>
              <a:srgbClr val="1A1A1A"/>
            </a:solidFill>
            <a:prstDash val="solid"/>
          </a:ln>
        </p:spPr>
      </p:sp>
      <p:sp>
        <p:nvSpPr>
          <p:cNvPr id="17" name="Text 15"/>
          <p:cNvSpPr txBox="1"/>
          <p:nvPr/>
        </p:nvSpPr>
        <p:spPr>
          <a:xfrm>
            <a:off x="6766560" y="1600200"/>
            <a:ext cx="1463040" cy="365760"/>
          </a:xfrm>
          <a:prstGeom prst="rect">
            <a:avLst/>
          </a:prstGeom>
          <a:noFill/>
          <a:ln/>
        </p:spPr>
        <p:txBody>
          <a:bodyPr wrap="square" lIns="0" tIns="0" rIns="0" bIns="0" rtlCol="0" anchor="ctr"/>
          <a:lstStyle/>
          <a:p>
            <a:pPr algn="ctr" indent="0" marL="0">
              <a:buNone/>
            </a:pPr>
            <a:r>
              <a:rPr lang="en-US" sz="1050" b="1" dirty="0">
                <a:solidFill>
                  <a:srgbClr val="1A1A1A"/>
                </a:solidFill>
              </a:rPr>
              <a:t>Mar–Apr 2027</a:t>
            </a:r>
            <a:endParaRPr lang="en-US" sz="1050" dirty="0"/>
          </a:p>
        </p:txBody>
      </p:sp>
      <p:sp>
        <p:nvSpPr>
          <p:cNvPr id="18" name="Text 16"/>
          <p:cNvSpPr txBox="1"/>
          <p:nvPr/>
        </p:nvSpPr>
        <p:spPr>
          <a:xfrm>
            <a:off x="6766560" y="2240280"/>
            <a:ext cx="187452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Dashboard + paper</a:t>
            </a:r>
            <a:endParaRPr lang="en-US" sz="1500" dirty="0"/>
          </a:p>
        </p:txBody>
      </p:sp>
      <p:sp>
        <p:nvSpPr>
          <p:cNvPr id="19" name="Text 17"/>
          <p:cNvSpPr txBox="1"/>
          <p:nvPr/>
        </p:nvSpPr>
        <p:spPr>
          <a:xfrm>
            <a:off x="6766560" y="2651760"/>
            <a:ext cx="1874520" cy="914400"/>
          </a:xfrm>
          <a:prstGeom prst="rect">
            <a:avLst/>
          </a:prstGeom>
          <a:noFill/>
          <a:ln/>
        </p:spPr>
        <p:txBody>
          <a:bodyPr wrap="square" lIns="0" tIns="0" rIns="0" bIns="0" rtlCol="0" anchor="t"/>
          <a:lstStyle/>
          <a:p>
            <a:pPr indent="0" marL="0">
              <a:buNone/>
            </a:pPr>
            <a:r>
              <a:rPr lang="en-US" sz="1200" dirty="0">
                <a:solidFill>
                  <a:schemeClr val="accent6"/>
                </a:solidFill>
              </a:rPr>
              <a:t>React audit dashboard; DPDP Act and ABDM alignment; submit paper</a:t>
            </a:r>
            <a:endParaRPr lang="en-US" sz="1200" dirty="0"/>
          </a:p>
        </p:txBody>
      </p:sp>
      <p:sp>
        <p:nvSpPr>
          <p:cNvPr id="20" name="applications-shadow"/>
          <p:cNvSpPr/>
          <p:nvPr/>
        </p:nvSpPr>
        <p:spPr>
          <a:xfrm>
            <a:off x="512064" y="3758184"/>
            <a:ext cx="8229600" cy="640080"/>
          </a:xfrm>
          <a:prstGeom prst="rect">
            <a:avLst/>
          </a:prstGeom>
          <a:solidFill>
            <a:schemeClr val="tx1"/>
          </a:solidFill>
          <a:ln w="12700">
            <a:solidFill>
              <a:schemeClr val="tx1"/>
            </a:solidFill>
            <a:prstDash val="solid"/>
          </a:ln>
        </p:spPr>
      </p:sp>
      <p:sp>
        <p:nvSpPr>
          <p:cNvPr id="21" name="applications"/>
          <p:cNvSpPr/>
          <p:nvPr/>
        </p:nvSpPr>
        <p:spPr>
          <a:xfrm>
            <a:off x="457200" y="3703320"/>
            <a:ext cx="8229600" cy="640080"/>
          </a:xfrm>
          <a:prstGeom prst="rect">
            <a:avLst/>
          </a:prstGeom>
          <a:solidFill>
            <a:schemeClr val="bg1"/>
          </a:solidFill>
          <a:ln w="15875">
            <a:solidFill>
              <a:schemeClr val="tx1"/>
            </a:solidFill>
            <a:prstDash val="solid"/>
          </a:ln>
        </p:spPr>
      </p:sp>
      <p:sp>
        <p:nvSpPr>
          <p:cNvPr id="22" name="Text 20"/>
          <p:cNvSpPr txBox="1"/>
          <p:nvPr/>
        </p:nvSpPr>
        <p:spPr>
          <a:xfrm>
            <a:off x="640080" y="3749040"/>
            <a:ext cx="7863840" cy="548640"/>
          </a:xfrm>
          <a:prstGeom prst="rect">
            <a:avLst/>
          </a:prstGeom>
          <a:noFill/>
          <a:ln/>
        </p:spPr>
        <p:txBody>
          <a:bodyPr wrap="square" lIns="0" tIns="0" rIns="0" bIns="0" rtlCol="0" anchor="ctr"/>
          <a:lstStyle/>
          <a:p>
            <a:pPr indent="0" marL="0">
              <a:buNone/>
            </a:pPr>
            <a:r>
              <a:rPr lang="en-US" sz="1300" b="1" dirty="0">
                <a:solidFill>
                  <a:schemeClr val="tx1"/>
                </a:solidFill>
              </a:rPr>
              <a:t>Beyond hospitals:  </a:t>
            </a:r>
            <a:pPr indent="0" marL="0">
              <a:buNone/>
            </a:pPr>
            <a:r>
              <a:rPr lang="en-US" sz="1300" dirty="0">
                <a:solidFill>
                  <a:schemeClr val="tx1"/>
                </a:solidFill>
              </a:rPr>
              <a:t>joint fraud models across banks and insurers, and verifiable on-device learning.</a:t>
            </a:r>
            <a:endParaRPr lang="en-US" sz="13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References</a:t>
            </a:r>
            <a:endParaRPr lang="en-US" sz="2800" dirty="0"/>
          </a:p>
        </p:txBody>
      </p:sp>
      <p:sp>
        <p:nvSpPr>
          <p:cNvPr id="3" name="Text 1"/>
          <p:cNvSpPr txBox="1"/>
          <p:nvPr/>
        </p:nvSpPr>
        <p:spPr>
          <a:xfrm>
            <a:off x="457200" y="1051560"/>
            <a:ext cx="8229600" cy="347472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[1]  B. McMahan et al., “Communication-efficient learning of deep networks from decentralized data,” AISTATS, 2017.</a:t>
            </a:r>
            <a:endParaRPr lang="en-US" sz="1100" dirty="0"/>
          </a:p>
          <a:p>
            <a:pPr indent="0" marL="0">
              <a:spcAft>
                <a:spcPts val="500"/>
              </a:spcAft>
              <a:buNone/>
            </a:pPr>
            <a:r>
              <a:rPr lang="en-US" sz="1100" dirty="0">
                <a:solidFill>
                  <a:schemeClr val="tx1"/>
                </a:solidFill>
              </a:rPr>
              <a:t>[2]  K. Bonawitz et al., “Practical secure aggregation for privacy-preserving machine learning,” ACM CCS, 2017.</a:t>
            </a:r>
            <a:endParaRPr lang="en-US" sz="1100" dirty="0"/>
          </a:p>
          <a:p>
            <a:pPr indent="0" marL="0">
              <a:spcAft>
                <a:spcPts val="500"/>
              </a:spcAft>
              <a:buNone/>
            </a:pPr>
            <a:r>
              <a:rPr lang="en-US" sz="1100" dirty="0">
                <a:solidFill>
                  <a:schemeClr val="tx1"/>
                </a:solidFill>
              </a:rPr>
              <a:t>[3]  M. Abadi et al., “Deep learning with differential privacy,” ACM CCS, 2016.</a:t>
            </a:r>
            <a:endParaRPr lang="en-US" sz="1100" dirty="0"/>
          </a:p>
          <a:p>
            <a:pPr indent="0" marL="0">
              <a:spcAft>
                <a:spcPts val="500"/>
              </a:spcAft>
              <a:buNone/>
            </a:pPr>
            <a:r>
              <a:rPr lang="en-US" sz="1100" dirty="0">
                <a:solidFill>
                  <a:schemeClr val="tx1"/>
                </a:solidFill>
              </a:rPr>
              <a:t>[4]  I. Mironov, “Rényi differential privacy,” IEEE CSF, 2017.</a:t>
            </a:r>
            <a:endParaRPr lang="en-US" sz="1100" dirty="0"/>
          </a:p>
          <a:p>
            <a:pPr indent="0" marL="0">
              <a:spcAft>
                <a:spcPts val="500"/>
              </a:spcAft>
              <a:buNone/>
            </a:pPr>
            <a:r>
              <a:rPr lang="en-US" sz="1100" dirty="0">
                <a:solidFill>
                  <a:schemeClr val="tx1"/>
                </a:solidFill>
              </a:rPr>
              <a:t>[5]  X. Cao et al., “FLTrust: Byzantine-robust federated learning via trust bootstrapping,” NDSS, 2021.</a:t>
            </a:r>
            <a:endParaRPr lang="en-US" sz="1100" dirty="0"/>
          </a:p>
          <a:p>
            <a:pPr indent="0" marL="0">
              <a:spcAft>
                <a:spcPts val="500"/>
              </a:spcAft>
              <a:buNone/>
            </a:pPr>
            <a:r>
              <a:rPr lang="en-US" sz="1100" dirty="0">
                <a:solidFill>
                  <a:schemeClr val="tx1"/>
                </a:solidFill>
              </a:rPr>
              <a:t>[6]  H. Kim et al., “Blockchained on-device federated learning,” IEEE Commun. Lett., 2020.</a:t>
            </a:r>
            <a:endParaRPr lang="en-US" sz="1100" dirty="0"/>
          </a:p>
          <a:p>
            <a:pPr indent="0" marL="0">
              <a:spcAft>
                <a:spcPts val="500"/>
              </a:spcAft>
              <a:buNone/>
            </a:pPr>
            <a:r>
              <a:rPr lang="en-US" sz="1100" dirty="0">
                <a:solidFill>
                  <a:schemeClr val="tx1"/>
                </a:solidFill>
              </a:rPr>
              <a:t>[7]  J. Weng et al., “DeepChain: auditable and privacy-preserving deep learning with blockchain-based incentive,” IEEE TDSC, 2021.</a:t>
            </a:r>
            <a:endParaRPr lang="en-US" sz="1100" dirty="0"/>
          </a:p>
          <a:p>
            <a:pPr indent="0" marL="0">
              <a:spcAft>
                <a:spcPts val="500"/>
              </a:spcAft>
              <a:buNone/>
            </a:pPr>
            <a:r>
              <a:rPr lang="en-US" sz="1100" dirty="0">
                <a:solidFill>
                  <a:schemeClr val="tx1"/>
                </a:solidFill>
              </a:rPr>
              <a:t>[8]  Y. Li et al., “A blockchain-based decentralized federated learning framework with committee consensus,” IEEE Network, 2021.</a:t>
            </a:r>
            <a:endParaRPr lang="en-US" sz="1100" dirty="0"/>
          </a:p>
          <a:p>
            <a:pPr indent="0" marL="0">
              <a:spcAft>
                <a:spcPts val="500"/>
              </a:spcAft>
              <a:buNone/>
            </a:pPr>
            <a:r>
              <a:rPr lang="en-US" sz="1100" dirty="0">
                <a:solidFill>
                  <a:schemeClr val="tx1"/>
                </a:solidFill>
              </a:rPr>
              <a:t>[9]  D. J. Beutel et al., “Flower: a friendly federated learning research framework,” arXiv:2007.14390, 2020.</a:t>
            </a:r>
            <a:endParaRPr lang="en-US" sz="1100" dirty="0"/>
          </a:p>
          <a:p>
            <a:pPr indent="0" marL="0">
              <a:spcAft>
                <a:spcPts val="500"/>
              </a:spcAft>
              <a:buNone/>
            </a:pPr>
            <a:r>
              <a:rPr lang="en-US" sz="1100" dirty="0">
                <a:solidFill>
                  <a:schemeClr val="tx1"/>
                </a:solidFill>
              </a:rPr>
              <a:t>[10]  W. N. Street, W. H. Wolberg, O. L. Mangasarian, “Nuclear feature extraction for breast tumor diagnosis,” Proc. SPIE, 1993.</a:t>
            </a:r>
            <a:endParaRPr lang="en-US" sz="1100" dirty="0"/>
          </a:p>
        </p:txBody>
      </p:sp>
      <p:sp>
        <p:nvSpPr>
          <p:cNvPr id="4" name="Text 2"/>
          <p:cNvSpPr txBox="1"/>
          <p:nvPr/>
        </p:nvSpPr>
        <p:spPr>
          <a:xfrm>
            <a:off x="457200" y="4434840"/>
            <a:ext cx="5486400" cy="228600"/>
          </a:xfrm>
          <a:prstGeom prst="rect">
            <a:avLst/>
          </a:prstGeom>
          <a:noFill/>
          <a:ln/>
        </p:spPr>
        <p:txBody>
          <a:bodyPr wrap="square" lIns="0" tIns="0" rIns="0" bIns="0" rtlCol="0" anchor="t"/>
          <a:lstStyle/>
          <a:p>
            <a:pPr indent="0" marL="0">
              <a:buNone/>
            </a:pPr>
            <a:r>
              <a:rPr lang="en-US" sz="1000" i="1" dirty="0">
                <a:solidFill>
                  <a:schemeClr val="accent6"/>
                </a:solidFill>
              </a:rPr>
              <a:t>Full list of 27 references in the research paper.</a:t>
            </a:r>
            <a:endParaRPr lang="en-US" sz="1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394960" y="685800"/>
            <a:ext cx="3566160" cy="3566160"/>
          </a:xfrm>
          <a:prstGeom prst="rect">
            <a:avLst/>
          </a:prstGeom>
        </p:spPr>
      </p:pic>
      <p:sp>
        <p:nvSpPr>
          <p:cNvPr id="3" name="Text 0"/>
          <p:cNvSpPr txBox="1"/>
          <p:nvPr/>
        </p:nvSpPr>
        <p:spPr>
          <a:xfrm>
            <a:off x="548640" y="1280160"/>
            <a:ext cx="4754880" cy="82296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548640" y="2148840"/>
            <a:ext cx="4754880" cy="457200"/>
          </a:xfrm>
          <a:prstGeom prst="rect">
            <a:avLst/>
          </a:prstGeom>
          <a:noFill/>
          <a:ln/>
        </p:spPr>
        <p:txBody>
          <a:bodyPr wrap="square" lIns="0" tIns="0" rIns="0" bIns="0" rtlCol="0" anchor="t"/>
          <a:lstStyle/>
          <a:p>
            <a:pPr indent="0" marL="0">
              <a:buNone/>
            </a:pPr>
            <a:r>
              <a:rPr lang="en-US" sz="1800" i="1" dirty="0">
                <a:solidFill>
                  <a:schemeClr val="bg2"/>
                </a:solidFill>
              </a:rPr>
              <a:t>Many rivers, one model. The data never moves.</a:t>
            </a:r>
            <a:endParaRPr lang="en-US" sz="1800" dirty="0"/>
          </a:p>
        </p:txBody>
      </p:sp>
      <p:sp>
        <p:nvSpPr>
          <p:cNvPr id="5" name="pill"/>
          <p:cNvSpPr/>
          <p:nvPr/>
        </p:nvSpPr>
        <p:spPr>
          <a:xfrm>
            <a:off x="548640" y="3017520"/>
            <a:ext cx="2011680" cy="411480"/>
          </a:xfrm>
          <a:prstGeom prst="roundRect">
            <a:avLst>
              <a:gd name="adj" fmla="val 50000"/>
            </a:avLst>
          </a:prstGeom>
          <a:solidFill>
            <a:srgbClr val="C8963E"/>
          </a:solidFill>
          <a:ln w="12700">
            <a:solidFill>
              <a:srgbClr val="C8963E"/>
            </a:solidFill>
            <a:prstDash val="solid"/>
          </a:ln>
        </p:spPr>
      </p:sp>
      <p:sp>
        <p:nvSpPr>
          <p:cNvPr id="6" name="Text 3"/>
          <p:cNvSpPr txBox="1"/>
          <p:nvPr/>
        </p:nvSpPr>
        <p:spPr>
          <a:xfrm>
            <a:off x="548640" y="3017520"/>
            <a:ext cx="2011680" cy="411480"/>
          </a:xfrm>
          <a:prstGeom prst="rect">
            <a:avLst/>
          </a:prstGeom>
          <a:noFill/>
          <a:ln/>
        </p:spPr>
        <p:txBody>
          <a:bodyPr wrap="square" lIns="0" tIns="0" rIns="0" bIns="0" rtlCol="0" anchor="ctr"/>
          <a:lstStyle/>
          <a:p>
            <a:pPr algn="ctr" indent="0" marL="0">
              <a:buNone/>
            </a:pPr>
            <a:r>
              <a:rPr lang="en-US" sz="1300" b="1" dirty="0">
                <a:solidFill>
                  <a:srgbClr val="1A1A1A"/>
                </a:solidFill>
              </a:rPr>
              <a:t>Questions welcome</a:t>
            </a:r>
            <a:endParaRPr lang="en-US" sz="13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angam">
  <a:themeElements>
    <a:clrScheme name="Sangam">
      <a:dk1>
        <a:srgbClr val="1A1A1A"/>
      </a:dk1>
      <a:lt1>
        <a:srgbClr val="FFFFFF"/>
      </a:lt1>
      <a:dk2>
        <a:srgbClr val="23336B"/>
      </a:dk2>
      <a:lt2>
        <a:srgbClr val="F6F2EA"/>
      </a:lt2>
      <a:accent1>
        <a:srgbClr val="C8963E"/>
      </a:accent1>
      <a:accent2>
        <a:srgbClr val="23336B"/>
      </a:accent2>
      <a:accent3>
        <a:srgbClr val="8A7CC2"/>
      </a:accent3>
      <a:accent4>
        <a:srgbClr val="B4432F"/>
      </a:accent4>
      <a:accent5>
        <a:srgbClr val="2F7D5B"/>
      </a:accent5>
      <a:accent6>
        <a:srgbClr val="9A958C"/>
      </a:accent6>
      <a:hlink>
        <a:srgbClr val="23336B"/>
      </a:hlink>
      <a:folHlink>
        <a:srgbClr val="8A7CC2"/>
      </a:folHlink>
    </a:clrScheme>
    <a:fontScheme name="Sanga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Sangam: Second Defence</dc:title>
  <dc:subject>PptxGenJS Presentation</dc:subject>
  <dc:creator>Divyanshh Kalra, Shrey Khandal, Tanish Garg</dc:creator>
  <cp:lastModifiedBy>Divyanshh Kalra, Shrey Khandal, Tanish Garg</cp:lastModifiedBy>
  <cp:revision>1</cp:revision>
  <dcterms:created xsi:type="dcterms:W3CDTF">2026-10-22T21:17:52Z</dcterms:created>
  <dcterms:modified xsi:type="dcterms:W3CDTF">2026-10-22T21:17:52Z</dcterms:modified>
</cp:coreProperties>
</file>